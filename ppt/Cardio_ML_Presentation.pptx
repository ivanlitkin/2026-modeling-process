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15"/>
    <p:sldId id="258" r:id="rId10"/>
    <p:sldId id="259" r:id="rId11"/>
    <p:sldId id="260" r:id="rId22"/>
    <p:sldId id="261" r:id="rId23"/>
    <p:sldId id="262" r:id="rId12"/>
    <p:sldId id="263" r:id="rId16"/>
    <p:sldId id="264" r:id="rId24"/>
    <p:sldId id="265" r:id="rId2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HSE Sans Regular"/>
        <a:ea typeface="HSE Sans Regular"/>
        <a:cs typeface="HSE Sans Regular"/>
        <a:sym typeface="HSE Sans Regular"/>
      </a:defRPr>
    </a:lvl1pPr>
    <a:lvl2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HSE Sans Regular"/>
        <a:ea typeface="HSE Sans Regular"/>
        <a:cs typeface="HSE Sans Regular"/>
        <a:sym typeface="HSE Sans Regular"/>
      </a:defRPr>
    </a:lvl2pPr>
    <a:lvl3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HSE Sans Regular"/>
        <a:ea typeface="HSE Sans Regular"/>
        <a:cs typeface="HSE Sans Regular"/>
        <a:sym typeface="HSE Sans Regular"/>
      </a:defRPr>
    </a:lvl3pPr>
    <a:lvl4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HSE Sans Regular"/>
        <a:ea typeface="HSE Sans Regular"/>
        <a:cs typeface="HSE Sans Regular"/>
        <a:sym typeface="HSE Sans Regular"/>
      </a:defRPr>
    </a:lvl4pPr>
    <a:lvl5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HSE Sans Regular"/>
        <a:ea typeface="HSE Sans Regular"/>
        <a:cs typeface="HSE Sans Regular"/>
        <a:sym typeface="HSE Sans Regular"/>
      </a:defRPr>
    </a:lvl5pPr>
    <a:lvl6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HSE Sans Regular"/>
        <a:ea typeface="HSE Sans Regular"/>
        <a:cs typeface="HSE Sans Regular"/>
        <a:sym typeface="HSE Sans Regular"/>
      </a:defRPr>
    </a:lvl6pPr>
    <a:lvl7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HSE Sans Regular"/>
        <a:ea typeface="HSE Sans Regular"/>
        <a:cs typeface="HSE Sans Regular"/>
        <a:sym typeface="HSE Sans Regular"/>
      </a:defRPr>
    </a:lvl7pPr>
    <a:lvl8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HSE Sans Regular"/>
        <a:ea typeface="HSE Sans Regular"/>
        <a:cs typeface="HSE Sans Regular"/>
        <a:sym typeface="HSE Sans Regular"/>
      </a:defRPr>
    </a:lvl8pPr>
    <a:lvl9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HSE Sans Regular"/>
        <a:ea typeface="HSE Sans Regular"/>
        <a:cs typeface="HSE Sans Regular"/>
        <a:sym typeface="HSE Sans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SE Sans Regular"/>
          <a:ea typeface="HSE Sans Regular"/>
          <a:cs typeface="HSE Sans Regular"/>
        </a:font>
        <a:srgbClr val="102D69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BFBFBF"/>
              </a:solidFill>
              <a:prstDash val="solid"/>
              <a:round/>
            </a:ln>
          </a:top>
          <a:bottom>
            <a:ln w="12700" cap="flat">
              <a:solidFill>
                <a:srgbClr val="BFBFBF"/>
              </a:solidFill>
              <a:prstDash val="solid"/>
              <a:round/>
            </a:ln>
          </a:bottom>
          <a:insideH>
            <a:ln w="12700" cap="flat">
              <a:solidFill>
                <a:srgbClr val="BFBFB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ff" i="off">
        <a:font>
          <a:latin typeface="HSE Sans Regular"/>
          <a:ea typeface="HSE Sans Regular"/>
          <a:cs typeface="HSE Sans Regular"/>
        </a:font>
        <a:srgbClr val="102D69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BFBFBF"/>
              </a:solidFill>
              <a:prstDash val="solid"/>
              <a:round/>
            </a:ln>
          </a:top>
          <a:bottom>
            <a:ln w="12700" cap="flat">
              <a:solidFill>
                <a:srgbClr val="BFBFB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F2F2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SE Sans Regular"/>
          <a:ea typeface="HSE Sans Regular"/>
          <a:cs typeface="HSE Sans Regula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SE Sans Regular"/>
          <a:ea typeface="HSE Sans Regular"/>
          <a:cs typeface="HSE Sans Regula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SE Sans Regular"/>
          <a:ea typeface="HSE Sans Regular"/>
          <a:cs typeface="HSE Sans Regula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SE Sans Regular"/>
          <a:ea typeface="HSE Sans Regular"/>
          <a:cs typeface="HSE Sans Regular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HSE Sans Bold"/>
          <a:ea typeface="HSE Sans Bold"/>
          <a:cs typeface="HSE Sans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SE Sans Regular"/>
          <a:ea typeface="HSE Sans Regular"/>
          <a:cs typeface="HSE Sans Regula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title>
      <c:tx>
        <c:rich>
          <a:bodyPr rot="0"/>
          <a:lstStyle/>
          <a:p>
            <a:pPr>
              <a:defRPr b="0" i="0" strike="noStrike" sz="3200" u="none">
                <a:solidFill>
                  <a:srgbClr val="102D69"/>
                </a:solidFill>
                <a:latin typeface="Helvetica"/>
              </a:defRPr>
            </a:pPr>
            <a:r>
              <a:rPr b="0" i="0" strike="noStrike" sz="3200" u="none">
                <a:solidFill>
                  <a:srgbClr val="102D69"/>
                </a:solidFill>
                <a:latin typeface="Helvetica"/>
              </a:rPr>
              <a:t>AUC-ROC по моделям</a:t>
            </a:r>
          </a:p>
        </c:rich>
      </c:tx>
      <c:layout>
        <c:manualLayout>
          <c:xMode val="edge"/>
          <c:yMode val="edge"/>
          <c:x val="0.308691"/>
          <c:y val="0"/>
          <c:w val="0.382618"/>
          <c:h val="0.0998653"/>
        </c:manualLayout>
      </c:layout>
      <c:overlay val="1"/>
      <c:spPr>
        <a:noFill/>
        <a:effectLst/>
      </c:spPr>
    </c:title>
    <c:autoTitleDeleted val="1"/>
    <c:plotArea>
      <c:layout>
        <c:manualLayout>
          <c:layoutTarget val="inner"/>
          <c:xMode val="edge"/>
          <c:yMode val="edge"/>
          <c:x val="0.0521308"/>
          <c:y val="0.0998653"/>
          <c:w val="0.942869"/>
          <c:h val="0.72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102D69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Шкала SCORE</c:v>
                </c:pt>
                <c:pt idx="1">
                  <c:v>Random Forest</c:v>
                </c:pt>
                <c:pt idx="2">
                  <c:v>CatBoost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0.70</c:v>
                </c:pt>
                <c:pt idx="1">
                  <c:v>0.80</c:v>
                </c:pt>
                <c:pt idx="2">
                  <c:v>0.86</c:v>
                </c:pt>
              </c:numCache>
            </c:numRef>
          </c:val>
        </c:ser>
        <c:gapWidth val="262"/>
        <c:overlap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2400" u="none">
                <a:solidFill>
                  <a:srgbClr val="102D69"/>
                </a:solidFill>
                <a:latin typeface="Helvetica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0.#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2400" u="none">
                <a:solidFill>
                  <a:srgbClr val="102D69"/>
                </a:solidFill>
                <a:latin typeface="Helvetica"/>
              </a:defRPr>
            </a:pPr>
          </a:p>
        </c:txPr>
        <c:crossAx val="2094734552"/>
        <c:crosses val="autoZero"/>
        <c:crossBetween val="between"/>
        <c:majorUnit val="0.2"/>
        <c:minorUnit val="0.1"/>
      </c:valAx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260763"/>
          <c:y val="0.939803"/>
          <c:w val="0.530197"/>
          <c:h val="0.0601969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b="0" i="0" strike="noStrike" sz="2400" u="none">
              <a:solidFill>
                <a:srgbClr val="595959"/>
              </a:solidFill>
              <a:latin typeface="HSE Sans Regular"/>
            </a:defRPr>
          </a:pPr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0" name="Shape 22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 latinLnBrk="0">
      <a:defRPr sz="2400">
        <a:latin typeface="+mj-lt"/>
        <a:ea typeface="+mj-ea"/>
        <a:cs typeface="+mj-cs"/>
        <a:sym typeface="Calibri"/>
      </a:defRPr>
    </a:lvl1pPr>
    <a:lvl2pPr indent="228600" defTabSz="1828800" latinLnBrk="0">
      <a:defRPr sz="2400">
        <a:latin typeface="+mj-lt"/>
        <a:ea typeface="+mj-ea"/>
        <a:cs typeface="+mj-cs"/>
        <a:sym typeface="Calibri"/>
      </a:defRPr>
    </a:lvl2pPr>
    <a:lvl3pPr indent="457200" defTabSz="1828800" latinLnBrk="0">
      <a:defRPr sz="2400">
        <a:latin typeface="+mj-lt"/>
        <a:ea typeface="+mj-ea"/>
        <a:cs typeface="+mj-cs"/>
        <a:sym typeface="Calibri"/>
      </a:defRPr>
    </a:lvl3pPr>
    <a:lvl4pPr indent="685800" defTabSz="1828800" latinLnBrk="0">
      <a:defRPr sz="2400">
        <a:latin typeface="+mj-lt"/>
        <a:ea typeface="+mj-ea"/>
        <a:cs typeface="+mj-cs"/>
        <a:sym typeface="Calibri"/>
      </a:defRPr>
    </a:lvl4pPr>
    <a:lvl5pPr indent="914400" defTabSz="1828800" latinLnBrk="0">
      <a:defRPr sz="2400">
        <a:latin typeface="+mj-lt"/>
        <a:ea typeface="+mj-ea"/>
        <a:cs typeface="+mj-cs"/>
        <a:sym typeface="Calibri"/>
      </a:defRPr>
    </a:lvl5pPr>
    <a:lvl6pPr indent="1143000" defTabSz="1828800" latinLnBrk="0">
      <a:defRPr sz="2400">
        <a:latin typeface="+mj-lt"/>
        <a:ea typeface="+mj-ea"/>
        <a:cs typeface="+mj-cs"/>
        <a:sym typeface="Calibri"/>
      </a:defRPr>
    </a:lvl6pPr>
    <a:lvl7pPr indent="1371600" defTabSz="1828800" latinLnBrk="0">
      <a:defRPr sz="2400">
        <a:latin typeface="+mj-lt"/>
        <a:ea typeface="+mj-ea"/>
        <a:cs typeface="+mj-cs"/>
        <a:sym typeface="Calibri"/>
      </a:defRPr>
    </a:lvl7pPr>
    <a:lvl8pPr indent="1600200" defTabSz="1828800" latinLnBrk="0">
      <a:defRPr sz="2400">
        <a:latin typeface="+mj-lt"/>
        <a:ea typeface="+mj-ea"/>
        <a:cs typeface="+mj-cs"/>
        <a:sym typeface="Calibri"/>
      </a:defRPr>
    </a:lvl8pPr>
    <a:lvl9pPr indent="1828800" defTabSz="1828800" latinLnBrk="0">
      <a:defRPr sz="24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8" tIns="91438" rIns="91438" bIns="91438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" name="Straight Connector 19"/>
          <p:cNvSpPr/>
          <p:nvPr/>
        </p:nvSpPr>
        <p:spPr>
          <a:xfrm>
            <a:off x="6597370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" name="Straight Connector 21"/>
          <p:cNvSpPr/>
          <p:nvPr/>
        </p:nvSpPr>
        <p:spPr>
          <a:xfrm>
            <a:off x="12198831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" name="Straight Connector 59"/>
          <p:cNvSpPr/>
          <p:nvPr/>
        </p:nvSpPr>
        <p:spPr>
          <a:xfrm>
            <a:off x="23287736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" name="Уровень текста 1…"/>
          <p:cNvSpPr txBox="1"/>
          <p:nvPr>
            <p:ph type="body" sz="quarter" idx="1"/>
          </p:nvPr>
        </p:nvSpPr>
        <p:spPr>
          <a:xfrm>
            <a:off x="2207071" y="994629"/>
            <a:ext cx="4510612" cy="792482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6" name="TextBox 30"/>
          <p:cNvSpPr txBox="1"/>
          <p:nvPr>
            <p:ph type="body" sz="quarter" idx="21"/>
          </p:nvPr>
        </p:nvSpPr>
        <p:spPr>
          <a:xfrm>
            <a:off x="6822693" y="994629"/>
            <a:ext cx="4510612" cy="10972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27" name="TextBox 31"/>
          <p:cNvSpPr txBox="1"/>
          <p:nvPr>
            <p:ph type="body" sz="quarter" idx="22"/>
          </p:nvPr>
        </p:nvSpPr>
        <p:spPr>
          <a:xfrm>
            <a:off x="12407675" y="994629"/>
            <a:ext cx="4510613" cy="10972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pic>
        <p:nvPicPr>
          <p:cNvPr id="28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4" y="1094998"/>
            <a:ext cx="774820" cy="896554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Обложка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Прямоугольник"/>
          <p:cNvSpPr/>
          <p:nvPr/>
        </p:nvSpPr>
        <p:spPr>
          <a:xfrm>
            <a:off x="994219" y="1105429"/>
            <a:ext cx="22395562" cy="115051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91438" tIns="91438" rIns="91438" bIns="91438" anchor="ctr"/>
          <a:lstStyle/>
          <a:p>
            <a:pPr defTabSz="1828800">
              <a:spcBef>
                <a:spcPts val="0"/>
              </a:spcBef>
              <a:defRPr sz="36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pic>
        <p:nvPicPr>
          <p:cNvPr id="38" name="сбор гум.помощи-05.png" descr="сбор гум.помощи-05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148086" y="1924345"/>
            <a:ext cx="1532263" cy="1772999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Straight Connector 48"/>
          <p:cNvSpPr/>
          <p:nvPr/>
        </p:nvSpPr>
        <p:spPr>
          <a:xfrm>
            <a:off x="12180423" y="1924344"/>
            <a:ext cx="2" cy="1680348"/>
          </a:xfrm>
          <a:prstGeom prst="line">
            <a:avLst/>
          </a:prstGeom>
          <a:ln w="25400"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" name="Straight Connector 50"/>
          <p:cNvSpPr/>
          <p:nvPr/>
        </p:nvSpPr>
        <p:spPr>
          <a:xfrm>
            <a:off x="17285160" y="1924344"/>
            <a:ext cx="2" cy="1680348"/>
          </a:xfrm>
          <a:prstGeom prst="line">
            <a:avLst/>
          </a:prstGeom>
          <a:ln w="25400"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" name="Straight Connector 51"/>
          <p:cNvSpPr/>
          <p:nvPr/>
        </p:nvSpPr>
        <p:spPr>
          <a:xfrm>
            <a:off x="22358092" y="1924344"/>
            <a:ext cx="2" cy="1680348"/>
          </a:xfrm>
          <a:prstGeom prst="line">
            <a:avLst/>
          </a:prstGeom>
          <a:ln w="25400"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" name="Уровень текста 1…"/>
          <p:cNvSpPr txBox="1"/>
          <p:nvPr>
            <p:ph type="body" sz="quarter" idx="1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3" name="Название подразделения в две или три строки (12pt)"/>
          <p:cNvSpPr txBox="1"/>
          <p:nvPr>
            <p:ph type="body" sz="quarter" idx="21"/>
          </p:nvPr>
        </p:nvSpPr>
        <p:spPr>
          <a:xfrm>
            <a:off x="12479957" y="2224145"/>
            <a:ext cx="4505671" cy="1080749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240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4" name="Москва 2022 (12pt)"/>
          <p:cNvSpPr txBox="1"/>
          <p:nvPr>
            <p:ph type="body" sz="quarter" idx="22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240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5" name="Название презентации может быть набрано в две  или три строки (43 pt)"/>
          <p:cNvSpPr txBox="1"/>
          <p:nvPr>
            <p:ph type="body" sz="half" idx="23"/>
          </p:nvPr>
        </p:nvSpPr>
        <p:spPr>
          <a:xfrm>
            <a:off x="2029011" y="4568039"/>
            <a:ext cx="20325978" cy="3962990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ts val="17200"/>
              </a:lnSpc>
              <a:spcBef>
                <a:spcPts val="0"/>
              </a:spcBef>
              <a:buSzTx/>
              <a:buFontTx/>
              <a:buNone/>
              <a:defRPr sz="860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6" name="Если нужно больше места,  то используйте подзаголовок (16 pt)"/>
          <p:cNvSpPr txBox="1"/>
          <p:nvPr>
            <p:ph type="body" sz="quarter" idx="24"/>
          </p:nvPr>
        </p:nvSpPr>
        <p:spPr>
          <a:xfrm>
            <a:off x="2029011" y="9494374"/>
            <a:ext cx="9995707" cy="1773000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ts val="5200"/>
              </a:lnSpc>
              <a:spcBef>
                <a:spcPts val="0"/>
              </a:spcBef>
              <a:buSzTx/>
              <a:buFontTx/>
              <a:buNone/>
              <a:defRPr sz="320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pic>
        <p:nvPicPr>
          <p:cNvPr id="47" name="Изображение" descr="Изображение"/>
          <p:cNvPicPr>
            <a:picLocks noChangeAspect="1"/>
          </p:cNvPicPr>
          <p:nvPr/>
        </p:nvPicPr>
        <p:blipFill>
          <a:blip r:embed="rId5">
            <a:alphaModFix amt="27475"/>
            <a:extLst/>
          </a:blip>
          <a:stretch>
            <a:fillRect/>
          </a:stretch>
        </p:blipFill>
        <p:spPr>
          <a:xfrm>
            <a:off x="13288396" y="1662907"/>
            <a:ext cx="16546249" cy="17791536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екст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Уровень текста 1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6" name="TextBox 44"/>
          <p:cNvSpPr txBox="1"/>
          <p:nvPr>
            <p:ph type="body" sz="quarter" idx="21"/>
          </p:nvPr>
        </p:nvSpPr>
        <p:spPr>
          <a:xfrm>
            <a:off x="1125837" y="4725596"/>
            <a:ext cx="9073420" cy="3535682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екст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8" tIns="91438" rIns="91438" bIns="91438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" name="Уровень текста 1…"/>
          <p:cNvSpPr txBox="1"/>
          <p:nvPr>
            <p:ph type="body" sz="quarter" idx="1"/>
          </p:nvPr>
        </p:nvSpPr>
        <p:spPr>
          <a:xfrm>
            <a:off x="1071388" y="4938019"/>
            <a:ext cx="9560764" cy="2951482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7" name="TextBox 23"/>
          <p:cNvSpPr txBox="1"/>
          <p:nvPr>
            <p:ph type="body" sz="quarter" idx="21"/>
          </p:nvPr>
        </p:nvSpPr>
        <p:spPr>
          <a:xfrm>
            <a:off x="1071389" y="10647084"/>
            <a:ext cx="9560764" cy="7924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8" name="TextBox 63"/>
          <p:cNvSpPr txBox="1"/>
          <p:nvPr>
            <p:ph type="body" sz="quarter" idx="22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</p:spPr>
        <p:txBody>
          <a:bodyPr/>
          <a:lstStyle/>
          <a:p>
            <a:pPr marL="0" indent="0" defTabSz="25400">
              <a:spcBef>
                <a:spcPts val="2400"/>
              </a:spcBef>
              <a:buSzTx/>
              <a:buFont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9" name="TextBox 22"/>
          <p:cNvSpPr txBox="1"/>
          <p:nvPr>
            <p:ph type="body" sz="quarter" idx="23"/>
          </p:nvPr>
        </p:nvSpPr>
        <p:spPr>
          <a:xfrm>
            <a:off x="12190716" y="4925943"/>
            <a:ext cx="10974722" cy="3886202"/>
          </a:xfrm>
          <a:prstGeom prst="rect">
            <a:avLst/>
          </a:prstGeom>
        </p:spPr>
        <p:txBody>
          <a:bodyPr lIns="101600" tIns="101600" rIns="101600" bIns="101600"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0" name="Straight Connector 19"/>
          <p:cNvSpPr/>
          <p:nvPr/>
        </p:nvSpPr>
        <p:spPr>
          <a:xfrm>
            <a:off x="6597370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" name="Straight Connector 21"/>
          <p:cNvSpPr/>
          <p:nvPr/>
        </p:nvSpPr>
        <p:spPr>
          <a:xfrm>
            <a:off x="12198831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" name="Straight Connector 59"/>
          <p:cNvSpPr/>
          <p:nvPr/>
        </p:nvSpPr>
        <p:spPr>
          <a:xfrm>
            <a:off x="23287736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" name="TextBox 27"/>
          <p:cNvSpPr txBox="1"/>
          <p:nvPr/>
        </p:nvSpPr>
        <p:spPr>
          <a:xfrm>
            <a:off x="2207072" y="994629"/>
            <a:ext cx="4510611" cy="792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Сеченовский Университет</a:t>
            </a:r>
            <a:br/>
            <a:r>
              <a:t>Институт цифровой медицины</a:t>
            </a:r>
          </a:p>
        </p:txBody>
      </p:sp>
      <p:sp>
        <p:nvSpPr>
          <p:cNvPr id="74" name="TextBox 30"/>
          <p:cNvSpPr txBox="1"/>
          <p:nvPr/>
        </p:nvSpPr>
        <p:spPr>
          <a:xfrm>
            <a:off x="6822694" y="994629"/>
            <a:ext cx="4510610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Прогноз риска ССЗ методами ML</a:t>
            </a:r>
          </a:p>
        </p:txBody>
      </p:sp>
      <p:sp>
        <p:nvSpPr>
          <p:cNvPr id="75" name="TextBox 31"/>
          <p:cNvSpPr txBox="1"/>
          <p:nvPr/>
        </p:nvSpPr>
        <p:spPr>
          <a:xfrm>
            <a:off x="12407676" y="994629"/>
            <a:ext cx="4510611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НИР · 2026</a:t>
            </a:r>
          </a:p>
        </p:txBody>
      </p:sp>
      <p:pic>
        <p:nvPicPr>
          <p:cNvPr id="76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4" y="1094998"/>
            <a:ext cx="774820" cy="896554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екст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8" tIns="91438" rIns="91438" bIns="91438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" name="Уровень текста 1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7" name="TextBox 14"/>
          <p:cNvSpPr txBox="1"/>
          <p:nvPr>
            <p:ph type="body" idx="21"/>
          </p:nvPr>
        </p:nvSpPr>
        <p:spPr>
          <a:xfrm>
            <a:off x="1125839" y="4725596"/>
            <a:ext cx="22132322" cy="6565319"/>
          </a:xfrm>
          <a:prstGeom prst="rect">
            <a:avLst/>
          </a:prstGeom>
        </p:spPr>
        <p:txBody>
          <a:bodyPr numCol="3" spcCol="126384"/>
          <a:lstStyle/>
          <a:p>
            <a: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8" name="Straight Connector 19"/>
          <p:cNvSpPr/>
          <p:nvPr/>
        </p:nvSpPr>
        <p:spPr>
          <a:xfrm>
            <a:off x="6597370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" name="Straight Connector 21"/>
          <p:cNvSpPr/>
          <p:nvPr/>
        </p:nvSpPr>
        <p:spPr>
          <a:xfrm>
            <a:off x="12198831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" name="Straight Connector 59"/>
          <p:cNvSpPr/>
          <p:nvPr/>
        </p:nvSpPr>
        <p:spPr>
          <a:xfrm>
            <a:off x="23287736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" name="TextBox 27"/>
          <p:cNvSpPr txBox="1"/>
          <p:nvPr/>
        </p:nvSpPr>
        <p:spPr>
          <a:xfrm>
            <a:off x="2207072" y="994629"/>
            <a:ext cx="4510611" cy="792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Сеченовский Университет</a:t>
            </a:r>
            <a:br/>
            <a:r>
              <a:t>Институт цифровой медицины</a:t>
            </a:r>
          </a:p>
        </p:txBody>
      </p:sp>
      <p:sp>
        <p:nvSpPr>
          <p:cNvPr id="92" name="TextBox 30"/>
          <p:cNvSpPr txBox="1"/>
          <p:nvPr/>
        </p:nvSpPr>
        <p:spPr>
          <a:xfrm>
            <a:off x="6822694" y="994629"/>
            <a:ext cx="4510610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Прогноз риска ССЗ методами ML</a:t>
            </a:r>
          </a:p>
        </p:txBody>
      </p:sp>
      <p:sp>
        <p:nvSpPr>
          <p:cNvPr id="93" name="TextBox 31"/>
          <p:cNvSpPr txBox="1"/>
          <p:nvPr/>
        </p:nvSpPr>
        <p:spPr>
          <a:xfrm>
            <a:off x="12407676" y="994629"/>
            <a:ext cx="4510611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НИР · 2026</a:t>
            </a:r>
          </a:p>
        </p:txBody>
      </p:sp>
      <p:pic>
        <p:nvPicPr>
          <p:cNvPr id="94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4" y="1094998"/>
            <a:ext cx="774820" cy="896554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График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8" tIns="91438" rIns="91438" bIns="91438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4" name="Уровень текста 1…"/>
          <p:cNvSpPr txBox="1"/>
          <p:nvPr>
            <p:ph type="body" sz="quarter" idx="1"/>
          </p:nvPr>
        </p:nvSpPr>
        <p:spPr>
          <a:xfrm>
            <a:off x="1026347" y="2970008"/>
            <a:ext cx="7120557" cy="2113282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05" name="TextBox 18"/>
          <p:cNvSpPr txBox="1"/>
          <p:nvPr>
            <p:ph type="body" sz="quarter" idx="21"/>
          </p:nvPr>
        </p:nvSpPr>
        <p:spPr>
          <a:xfrm>
            <a:off x="1026347" y="6080647"/>
            <a:ext cx="7120557" cy="26212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6" name="TextBox 23"/>
          <p:cNvSpPr txBox="1"/>
          <p:nvPr>
            <p:ph type="body" sz="quarter" idx="22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7" name="Straight Connector 19"/>
          <p:cNvSpPr/>
          <p:nvPr/>
        </p:nvSpPr>
        <p:spPr>
          <a:xfrm>
            <a:off x="6597370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" name="Straight Connector 21"/>
          <p:cNvSpPr/>
          <p:nvPr/>
        </p:nvSpPr>
        <p:spPr>
          <a:xfrm>
            <a:off x="12198831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" name="Straight Connector 59"/>
          <p:cNvSpPr/>
          <p:nvPr/>
        </p:nvSpPr>
        <p:spPr>
          <a:xfrm>
            <a:off x="23287736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" name="TextBox 27"/>
          <p:cNvSpPr txBox="1"/>
          <p:nvPr/>
        </p:nvSpPr>
        <p:spPr>
          <a:xfrm>
            <a:off x="2207072" y="994629"/>
            <a:ext cx="4109405" cy="792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Сеченовский Университет</a:t>
            </a:r>
            <a:br/>
            <a:r>
              <a:t>Институт цифровой медицины</a:t>
            </a:r>
          </a:p>
        </p:txBody>
      </p:sp>
      <p:sp>
        <p:nvSpPr>
          <p:cNvPr id="111" name="TextBox 30"/>
          <p:cNvSpPr txBox="1"/>
          <p:nvPr/>
        </p:nvSpPr>
        <p:spPr>
          <a:xfrm>
            <a:off x="6822694" y="994629"/>
            <a:ext cx="4510610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Прогноз риска ССЗ методами ML</a:t>
            </a:r>
          </a:p>
        </p:txBody>
      </p:sp>
      <p:sp>
        <p:nvSpPr>
          <p:cNvPr id="112" name="TextBox 31"/>
          <p:cNvSpPr txBox="1"/>
          <p:nvPr/>
        </p:nvSpPr>
        <p:spPr>
          <a:xfrm>
            <a:off x="12407676" y="994629"/>
            <a:ext cx="4510611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НИР · 2026</a:t>
            </a:r>
          </a:p>
        </p:txBody>
      </p:sp>
      <p:pic>
        <p:nvPicPr>
          <p:cNvPr id="113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4" y="1094998"/>
            <a:ext cx="774820" cy="89655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График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8" tIns="91438" rIns="91438" bIns="91438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3" name="Уровень текста 1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24" name="TextBox 18"/>
          <p:cNvSpPr txBox="1"/>
          <p:nvPr>
            <p:ph type="body" sz="quarter" idx="21"/>
          </p:nvPr>
        </p:nvSpPr>
        <p:spPr>
          <a:xfrm>
            <a:off x="1071389" y="4886926"/>
            <a:ext cx="6960890" cy="4627882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00">
                <a:latin typeface="HSE Sans Regular"/>
                <a:ea typeface="HSE Sans Regular"/>
                <a:cs typeface="HSE Sans Regular"/>
                <a:sym typeface="HSE Sans Regular"/>
              </a:defRPr>
            </a:pPr>
          </a:p>
        </p:txBody>
      </p:sp>
      <p:sp>
        <p:nvSpPr>
          <p:cNvPr id="125" name="TextBox 23"/>
          <p:cNvSpPr txBox="1"/>
          <p:nvPr>
            <p:ph type="body" sz="quarter" idx="22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6" name="Straight Connector 19"/>
          <p:cNvSpPr/>
          <p:nvPr/>
        </p:nvSpPr>
        <p:spPr>
          <a:xfrm>
            <a:off x="6597370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" name="Straight Connector 21"/>
          <p:cNvSpPr/>
          <p:nvPr/>
        </p:nvSpPr>
        <p:spPr>
          <a:xfrm>
            <a:off x="12198831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" name="Straight Connector 59"/>
          <p:cNvSpPr/>
          <p:nvPr/>
        </p:nvSpPr>
        <p:spPr>
          <a:xfrm>
            <a:off x="23287736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" name="TextBox 27"/>
          <p:cNvSpPr txBox="1"/>
          <p:nvPr/>
        </p:nvSpPr>
        <p:spPr>
          <a:xfrm>
            <a:off x="2207072" y="994629"/>
            <a:ext cx="4510611" cy="792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Сеченовский Университет</a:t>
            </a:r>
            <a:br/>
            <a:r>
              <a:t>Институт цифровой медицины</a:t>
            </a:r>
          </a:p>
        </p:txBody>
      </p:sp>
      <p:sp>
        <p:nvSpPr>
          <p:cNvPr id="130" name="TextBox 30"/>
          <p:cNvSpPr txBox="1"/>
          <p:nvPr/>
        </p:nvSpPr>
        <p:spPr>
          <a:xfrm>
            <a:off x="6822694" y="994629"/>
            <a:ext cx="4510610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Прогноз риска ССЗ методами ML</a:t>
            </a:r>
          </a:p>
        </p:txBody>
      </p:sp>
      <p:sp>
        <p:nvSpPr>
          <p:cNvPr id="131" name="TextBox 31"/>
          <p:cNvSpPr txBox="1"/>
          <p:nvPr/>
        </p:nvSpPr>
        <p:spPr>
          <a:xfrm>
            <a:off x="12407676" y="994629"/>
            <a:ext cx="4510611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НИР · 2026</a:t>
            </a:r>
          </a:p>
        </p:txBody>
      </p:sp>
      <p:pic>
        <p:nvPicPr>
          <p:cNvPr id="132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4" y="1094998"/>
            <a:ext cx="774820" cy="896554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График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8" tIns="91438" rIns="91438" bIns="91438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2" name="Уровень текста 1…"/>
          <p:cNvSpPr txBox="1"/>
          <p:nvPr>
            <p:ph type="body" sz="quarter" idx="1"/>
          </p:nvPr>
        </p:nvSpPr>
        <p:spPr>
          <a:xfrm>
            <a:off x="1071390" y="2793806"/>
            <a:ext cx="5543437" cy="1582421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43" name="TextBox 16"/>
          <p:cNvSpPr txBox="1"/>
          <p:nvPr>
            <p:ph type="body" sz="quarter" idx="21"/>
          </p:nvPr>
        </p:nvSpPr>
        <p:spPr>
          <a:xfrm>
            <a:off x="1125837" y="4734526"/>
            <a:ext cx="5434543" cy="23164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44" name="TextBox 23"/>
          <p:cNvSpPr txBox="1"/>
          <p:nvPr>
            <p:ph type="body" sz="quarter" idx="22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45" name="Straight Connector 19"/>
          <p:cNvSpPr/>
          <p:nvPr/>
        </p:nvSpPr>
        <p:spPr>
          <a:xfrm>
            <a:off x="6597370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Straight Connector 21"/>
          <p:cNvSpPr/>
          <p:nvPr/>
        </p:nvSpPr>
        <p:spPr>
          <a:xfrm>
            <a:off x="12198831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Straight Connector 59"/>
          <p:cNvSpPr/>
          <p:nvPr/>
        </p:nvSpPr>
        <p:spPr>
          <a:xfrm>
            <a:off x="23287736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" name="TextBox 27"/>
          <p:cNvSpPr txBox="1"/>
          <p:nvPr/>
        </p:nvSpPr>
        <p:spPr>
          <a:xfrm>
            <a:off x="2207072" y="994629"/>
            <a:ext cx="4510611" cy="792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Сеченовский Университет</a:t>
            </a:r>
            <a:br/>
            <a:r>
              <a:t>Институт цифровой медицины</a:t>
            </a:r>
          </a:p>
        </p:txBody>
      </p:sp>
      <p:sp>
        <p:nvSpPr>
          <p:cNvPr id="149" name="TextBox 30"/>
          <p:cNvSpPr txBox="1"/>
          <p:nvPr/>
        </p:nvSpPr>
        <p:spPr>
          <a:xfrm>
            <a:off x="6822694" y="994629"/>
            <a:ext cx="4510610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Прогноз риска ССЗ методами ML</a:t>
            </a:r>
          </a:p>
        </p:txBody>
      </p:sp>
      <p:sp>
        <p:nvSpPr>
          <p:cNvPr id="150" name="TextBox 31"/>
          <p:cNvSpPr txBox="1"/>
          <p:nvPr/>
        </p:nvSpPr>
        <p:spPr>
          <a:xfrm>
            <a:off x="12407676" y="994629"/>
            <a:ext cx="4510611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НИР · 2026</a:t>
            </a:r>
          </a:p>
        </p:txBody>
      </p:sp>
      <p:pic>
        <p:nvPicPr>
          <p:cNvPr id="151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4" y="1094998"/>
            <a:ext cx="774820" cy="896554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Цифр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Название презентации может быть набрано в две  или три строки"/>
          <p:cNvSpPr txBox="1"/>
          <p:nvPr/>
        </p:nvSpPr>
        <p:spPr>
          <a:xfrm>
            <a:off x="2029012" y="4568039"/>
            <a:ext cx="20325977" cy="401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/>
          <a:p>
            <a:pPr defTabSz="914400">
              <a:lnSpc>
                <a:spcPct val="80000"/>
              </a:lnSpc>
              <a:spcBef>
                <a:spcPts val="0"/>
              </a:spcBef>
              <a:defRPr sz="8600">
                <a:solidFill>
                  <a:srgbClr val="172C65"/>
                </a:solidFill>
              </a:defRPr>
            </a:pPr>
            <a:r>
              <a:t>Название презентации</a:t>
            </a:r>
            <a:br/>
            <a:r>
              <a:t xml:space="preserve">может быть набрано в две </a:t>
            </a:r>
            <a:br/>
            <a:r>
              <a:t>или три строки</a:t>
            </a:r>
          </a:p>
        </p:txBody>
      </p:sp>
      <p:sp>
        <p:nvSpPr>
          <p:cNvPr id="160" name="Если нужно больше места, то используйте подзаголовок"/>
          <p:cNvSpPr txBox="1"/>
          <p:nvPr/>
        </p:nvSpPr>
        <p:spPr>
          <a:xfrm>
            <a:off x="2029012" y="9794174"/>
            <a:ext cx="20325977" cy="665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 defTabSz="914400">
              <a:lnSpc>
                <a:spcPct val="80000"/>
              </a:lnSpc>
              <a:spcBef>
                <a:spcPts val="0"/>
              </a:spcBef>
              <a:defRPr sz="2800"/>
            </a:lvl1pPr>
          </a:lstStyle>
          <a:p>
            <a:pPr/>
            <a:r>
              <a:t>Если нужно больше места, то используйте подзаголовок</a:t>
            </a:r>
          </a:p>
        </p:txBody>
      </p:sp>
      <p:pic>
        <p:nvPicPr>
          <p:cNvPr id="161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8" tIns="91438" rIns="91438" bIns="91438" anchor="ctr"/>
          <a:lstStyle/>
          <a:p>
            <a:pPr algn="ctr" defTabSz="1828800">
              <a:spcBef>
                <a:spcPts val="0"/>
              </a:spcBef>
              <a:defRPr sz="3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" name="Уровень текста 1…"/>
          <p:cNvSpPr txBox="1"/>
          <p:nvPr>
            <p:ph type="body" sz="quarter" idx="1"/>
          </p:nvPr>
        </p:nvSpPr>
        <p:spPr>
          <a:xfrm>
            <a:off x="1071390" y="4937092"/>
            <a:ext cx="5646296" cy="3103882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64" name="TextBox 22"/>
          <p:cNvSpPr txBox="1"/>
          <p:nvPr>
            <p:ph type="body" sz="quarter" idx="21"/>
          </p:nvPr>
        </p:nvSpPr>
        <p:spPr>
          <a:xfrm>
            <a:off x="8135580" y="4937092"/>
            <a:ext cx="6313734" cy="31038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192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" name="TextBox 26"/>
          <p:cNvSpPr txBox="1"/>
          <p:nvPr>
            <p:ph type="body" sz="quarter" idx="22"/>
          </p:nvPr>
        </p:nvSpPr>
        <p:spPr>
          <a:xfrm>
            <a:off x="15110121" y="4937092"/>
            <a:ext cx="5646294" cy="31038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192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6" name="TextBox 63"/>
          <p:cNvSpPr txBox="1"/>
          <p:nvPr>
            <p:ph type="body" sz="quarter" idx="23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</p:spPr>
        <p:txBody>
          <a:bodyPr/>
          <a:lstStyle/>
          <a:p>
            <a:pPr marL="0" indent="0" defTabSz="25400">
              <a:spcBef>
                <a:spcPts val="2400"/>
              </a:spcBef>
              <a:buSzTx/>
              <a:buFont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7" name="TextBox 18"/>
          <p:cNvSpPr txBox="1"/>
          <p:nvPr>
            <p:ph type="body" sz="quarter" idx="24"/>
          </p:nvPr>
        </p:nvSpPr>
        <p:spPr>
          <a:xfrm>
            <a:off x="1071391" y="8351776"/>
            <a:ext cx="5434543" cy="1706883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8" name="TextBox 20"/>
          <p:cNvSpPr txBox="1"/>
          <p:nvPr>
            <p:ph type="body" sz="quarter" idx="25"/>
          </p:nvPr>
        </p:nvSpPr>
        <p:spPr>
          <a:xfrm>
            <a:off x="8135580" y="8351776"/>
            <a:ext cx="5434542" cy="1706883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9" name="TextBox 23"/>
          <p:cNvSpPr txBox="1"/>
          <p:nvPr>
            <p:ph type="body" sz="quarter" idx="26"/>
          </p:nvPr>
        </p:nvSpPr>
        <p:spPr>
          <a:xfrm>
            <a:off x="15110121" y="8351776"/>
            <a:ext cx="5434542" cy="1706883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0" name="Straight Connector 19"/>
          <p:cNvSpPr/>
          <p:nvPr/>
        </p:nvSpPr>
        <p:spPr>
          <a:xfrm>
            <a:off x="6597370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" name="Straight Connector 21"/>
          <p:cNvSpPr/>
          <p:nvPr/>
        </p:nvSpPr>
        <p:spPr>
          <a:xfrm>
            <a:off x="12198831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" name="Straight Connector 59"/>
          <p:cNvSpPr/>
          <p:nvPr/>
        </p:nvSpPr>
        <p:spPr>
          <a:xfrm>
            <a:off x="23287736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3" name="TextBox 27"/>
          <p:cNvSpPr txBox="1"/>
          <p:nvPr/>
        </p:nvSpPr>
        <p:spPr>
          <a:xfrm>
            <a:off x="2207072" y="994629"/>
            <a:ext cx="4510611" cy="792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Сеченовский Университет</a:t>
            </a:r>
            <a:br/>
            <a:r>
              <a:t>Институт цифровой медицины</a:t>
            </a:r>
          </a:p>
        </p:txBody>
      </p:sp>
      <p:sp>
        <p:nvSpPr>
          <p:cNvPr id="174" name="TextBox 30"/>
          <p:cNvSpPr txBox="1"/>
          <p:nvPr/>
        </p:nvSpPr>
        <p:spPr>
          <a:xfrm>
            <a:off x="6822694" y="994629"/>
            <a:ext cx="4510610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Прогноз риска ССЗ методами ML</a:t>
            </a:r>
          </a:p>
        </p:txBody>
      </p:sp>
      <p:sp>
        <p:nvSpPr>
          <p:cNvPr id="175" name="TextBox 31"/>
          <p:cNvSpPr txBox="1"/>
          <p:nvPr/>
        </p:nvSpPr>
        <p:spPr>
          <a:xfrm>
            <a:off x="12407676" y="994629"/>
            <a:ext cx="4510611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НИР · 2026</a:t>
            </a:r>
          </a:p>
        </p:txBody>
      </p:sp>
      <p:pic>
        <p:nvPicPr>
          <p:cNvPr id="176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4" y="1094998"/>
            <a:ext cx="774820" cy="896554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аблица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8" tIns="91438" rIns="91438" bIns="91438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6" name="Уровень текста 1…"/>
          <p:cNvSpPr txBox="1"/>
          <p:nvPr>
            <p:ph type="body" sz="quarter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87" name="TextBox 29"/>
          <p:cNvSpPr txBox="1"/>
          <p:nvPr>
            <p:ph type="body" sz="quarter" idx="21"/>
          </p:nvPr>
        </p:nvSpPr>
        <p:spPr>
          <a:xfrm>
            <a:off x="1071388" y="11162430"/>
            <a:ext cx="15527375" cy="10972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12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8" name="Straight Connector 19"/>
          <p:cNvSpPr/>
          <p:nvPr/>
        </p:nvSpPr>
        <p:spPr>
          <a:xfrm>
            <a:off x="6597370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" name="Straight Connector 21"/>
          <p:cNvSpPr/>
          <p:nvPr/>
        </p:nvSpPr>
        <p:spPr>
          <a:xfrm>
            <a:off x="12198831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" name="Straight Connector 59"/>
          <p:cNvSpPr/>
          <p:nvPr/>
        </p:nvSpPr>
        <p:spPr>
          <a:xfrm>
            <a:off x="23287736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" name="TextBox 27"/>
          <p:cNvSpPr txBox="1"/>
          <p:nvPr/>
        </p:nvSpPr>
        <p:spPr>
          <a:xfrm>
            <a:off x="2207072" y="994629"/>
            <a:ext cx="4510611" cy="792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Сеченовский Университет</a:t>
            </a:r>
            <a:br/>
            <a:r>
              <a:t>Институт цифровой медицины</a:t>
            </a:r>
          </a:p>
        </p:txBody>
      </p:sp>
      <p:sp>
        <p:nvSpPr>
          <p:cNvPr id="192" name="TextBox 30"/>
          <p:cNvSpPr txBox="1"/>
          <p:nvPr/>
        </p:nvSpPr>
        <p:spPr>
          <a:xfrm>
            <a:off x="6822694" y="994629"/>
            <a:ext cx="4510610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Прогноз риска ССЗ методами ML</a:t>
            </a:r>
          </a:p>
        </p:txBody>
      </p:sp>
      <p:sp>
        <p:nvSpPr>
          <p:cNvPr id="193" name="TextBox 31"/>
          <p:cNvSpPr txBox="1"/>
          <p:nvPr/>
        </p:nvSpPr>
        <p:spPr>
          <a:xfrm>
            <a:off x="12407676" y="994629"/>
            <a:ext cx="4510611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НИР · 2026</a:t>
            </a:r>
          </a:p>
        </p:txBody>
      </p:sp>
      <p:pic>
        <p:nvPicPr>
          <p:cNvPr id="194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4" y="1094998"/>
            <a:ext cx="774820" cy="896554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аблица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8" tIns="91438" rIns="91438" bIns="91438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4" name="Уровень текста 1…"/>
          <p:cNvSpPr txBox="1"/>
          <p:nvPr>
            <p:ph type="body" sz="quarter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05" name="TextBox 14"/>
          <p:cNvSpPr txBox="1"/>
          <p:nvPr>
            <p:ph type="body" sz="quarter" idx="21"/>
          </p:nvPr>
        </p:nvSpPr>
        <p:spPr>
          <a:xfrm>
            <a:off x="17388763" y="4377478"/>
            <a:ext cx="5434542" cy="32308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pic>
        <p:nvPicPr>
          <p:cNvPr id="206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4" y="1094998"/>
            <a:ext cx="774820" cy="896554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Straight Connector 19"/>
          <p:cNvSpPr/>
          <p:nvPr/>
        </p:nvSpPr>
        <p:spPr>
          <a:xfrm>
            <a:off x="6597370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" name="Straight Connector 21"/>
          <p:cNvSpPr/>
          <p:nvPr/>
        </p:nvSpPr>
        <p:spPr>
          <a:xfrm>
            <a:off x="12198831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" name="Straight Connector 59"/>
          <p:cNvSpPr/>
          <p:nvPr/>
        </p:nvSpPr>
        <p:spPr>
          <a:xfrm>
            <a:off x="23287736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0" name="TextBox 27"/>
          <p:cNvSpPr txBox="1"/>
          <p:nvPr/>
        </p:nvSpPr>
        <p:spPr>
          <a:xfrm>
            <a:off x="2207072" y="994629"/>
            <a:ext cx="4510611" cy="792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Сеченовский Университет</a:t>
            </a:r>
            <a:br/>
            <a:r>
              <a:t>Институт цифровой медицины</a:t>
            </a:r>
          </a:p>
        </p:txBody>
      </p:sp>
      <p:sp>
        <p:nvSpPr>
          <p:cNvPr id="211" name="TextBox 30"/>
          <p:cNvSpPr txBox="1"/>
          <p:nvPr/>
        </p:nvSpPr>
        <p:spPr>
          <a:xfrm>
            <a:off x="6822694" y="994629"/>
            <a:ext cx="4510610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Прогноз риска ССЗ методами ML</a:t>
            </a:r>
          </a:p>
        </p:txBody>
      </p:sp>
      <p:sp>
        <p:nvSpPr>
          <p:cNvPr id="212" name="TextBox 31"/>
          <p:cNvSpPr txBox="1"/>
          <p:nvPr/>
        </p:nvSpPr>
        <p:spPr>
          <a:xfrm>
            <a:off x="12407676" y="994629"/>
            <a:ext cx="4510611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НИР · 2026</a:t>
            </a:r>
          </a:p>
        </p:txBody>
      </p:sp>
      <p:sp>
        <p:nvSpPr>
          <p:cNvPr id="21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8" tIns="91438" rIns="91438" bIns="91438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" name="Straight Connector 19"/>
          <p:cNvSpPr/>
          <p:nvPr/>
        </p:nvSpPr>
        <p:spPr>
          <a:xfrm>
            <a:off x="6597370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" name="Straight Connector 21"/>
          <p:cNvSpPr/>
          <p:nvPr/>
        </p:nvSpPr>
        <p:spPr>
          <a:xfrm>
            <a:off x="12198831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" name="Straight Connector 59"/>
          <p:cNvSpPr/>
          <p:nvPr/>
        </p:nvSpPr>
        <p:spPr>
          <a:xfrm>
            <a:off x="23287736" y="928725"/>
            <a:ext cx="2" cy="1172522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" name="TextBox 27"/>
          <p:cNvSpPr txBox="1"/>
          <p:nvPr/>
        </p:nvSpPr>
        <p:spPr>
          <a:xfrm>
            <a:off x="2207072" y="994629"/>
            <a:ext cx="4510611" cy="792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t>Сеченовский Университет</a:t>
            </a:r>
            <a:br/>
            <a:r>
              <a:t>Институт цифровой медицины</a:t>
            </a:r>
          </a:p>
        </p:txBody>
      </p:sp>
      <p:sp>
        <p:nvSpPr>
          <p:cNvPr id="8" name="TextBox 30"/>
          <p:cNvSpPr txBox="1"/>
          <p:nvPr/>
        </p:nvSpPr>
        <p:spPr>
          <a:xfrm>
            <a:off x="6822694" y="994629"/>
            <a:ext cx="4510610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Прогноз риска ССЗ методами ML</a:t>
            </a:r>
          </a:p>
        </p:txBody>
      </p:sp>
      <p:sp>
        <p:nvSpPr>
          <p:cNvPr id="9" name="TextBox 31"/>
          <p:cNvSpPr txBox="1"/>
          <p:nvPr/>
        </p:nvSpPr>
        <p:spPr>
          <a:xfrm>
            <a:off x="12407676" y="994629"/>
            <a:ext cx="4510611" cy="109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НИР · 2026</a:t>
            </a:r>
          </a:p>
        </p:txBody>
      </p:sp>
      <p:pic>
        <p:nvPicPr>
          <p:cNvPr id="10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4" y="1094998"/>
            <a:ext cx="774820" cy="896554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Уровень текста 1…"/>
          <p:cNvSpPr txBox="1"/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2" name="Текст заголовка"/>
          <p:cNvSpPr txBox="1"/>
          <p:nvPr>
            <p:ph type="title"/>
          </p:nvPr>
        </p:nvSpPr>
        <p:spPr>
          <a:xfrm>
            <a:off x="3653366" y="2743200"/>
            <a:ext cx="19507201" cy="930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8" tIns="91438" rIns="91438" bIns="91438" anchor="ctr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13" name="Номер слайда"/>
          <p:cNvSpPr txBox="1"/>
          <p:nvPr>
            <p:ph type="sldNum" sz="quarter" idx="2"/>
          </p:nvPr>
        </p:nvSpPr>
        <p:spPr>
          <a:xfrm>
            <a:off x="22203055" y="12835871"/>
            <a:ext cx="504546" cy="483908"/>
          </a:xfrm>
          <a:prstGeom prst="rect">
            <a:avLst/>
          </a:prstGeom>
          <a:ln w="12700">
            <a:miter lim="400000"/>
          </a:ln>
        </p:spPr>
        <p:txBody>
          <a:bodyPr wrap="none" lIns="91438" tIns="91438" rIns="91438" bIns="91438" anchor="ctr">
            <a:spAutoFit/>
          </a:bodyPr>
          <a:lstStyle>
            <a:lvl1pPr algn="r" defTabSz="1828800">
              <a:spcBef>
                <a:spcPts val="0"/>
              </a:spcBef>
              <a:defRPr sz="24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ransition xmlns:p14="http://schemas.microsoft.com/office/powerpoint/2010/main" spd="med" advClick="1"/>
  <p:txStyles>
    <p:titleStyle>
      <a:lvl1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457200" marR="0" indent="-457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990600" marR="0" indent="-5334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554478" marR="0" indent="-640078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20828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5400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9972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4544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9116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3688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Название факультета в две строки (16 pt)"/>
          <p:cNvSpPr txBox="1"/>
          <p:nvPr>
            <p:ph type="body" sz="quarter" idx="1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</p:spPr>
        <p:txBody>
          <a:bodyPr/>
          <a:lstStyle/>
          <a:p>
            <a:pPr marL="0" indent="0" defTabSz="868680">
              <a:lnSpc>
                <a:spcPts val="4900"/>
              </a:lnSpc>
              <a:spcBef>
                <a:spcPts val="0"/>
              </a:spcBef>
              <a:buSzTx/>
              <a:buNone/>
              <a:defRPr sz="304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Сеченовский Университет</a:t>
            </a:r>
            <a:br/>
            <a:r>
              <a:t>Институт цифровой медицины</a:t>
            </a:r>
          </a:p>
        </p:txBody>
      </p:sp>
      <p:sp>
        <p:nvSpPr>
          <p:cNvPr id="223" name="Название подразделения в две или три строки (12pt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795527">
              <a:lnSpc>
                <a:spcPts val="3600"/>
              </a:lnSpc>
              <a:spcBef>
                <a:spcPts val="0"/>
              </a:spcBef>
              <a:buSzTx/>
              <a:buFontTx/>
              <a:buNone/>
              <a:defRPr sz="2088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Научно-исследовательская работа</a:t>
            </a:r>
            <a:br/>
            <a:r>
              <a:t>09.03.02 Информационные системы и технологии</a:t>
            </a:r>
          </a:p>
        </p:txBody>
      </p:sp>
      <p:sp>
        <p:nvSpPr>
          <p:cNvPr id="224" name="Москва 2022 (12pt)"/>
          <p:cNvSpPr txBox="1"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795527">
              <a:lnSpc>
                <a:spcPts val="3600"/>
              </a:lnSpc>
              <a:spcBef>
                <a:spcPts val="0"/>
              </a:spcBef>
              <a:buSzTx/>
              <a:buFontTx/>
              <a:buNone/>
              <a:defRPr sz="2088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Москва</a:t>
            </a:r>
            <a:br/>
            <a:r>
              <a:t>2026</a:t>
            </a:r>
          </a:p>
        </p:txBody>
      </p:sp>
      <p:sp>
        <p:nvSpPr>
          <p:cNvPr id="225" name="Название презентации может быть набрано в две или три строки (43 pt)"/>
          <p:cNvSpPr txBox="1"/>
          <p:nvPr>
            <p:ph type="body" idx="23"/>
          </p:nvPr>
        </p:nvSpPr>
        <p:spPr>
          <a:xfrm>
            <a:off x="2029011" y="5091534"/>
            <a:ext cx="12557305" cy="44357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914400">
              <a:lnSpc>
                <a:spcPts val="10000"/>
              </a:lnSpc>
              <a:spcBef>
                <a:spcPts val="0"/>
              </a:spcBef>
              <a:buSzTx/>
              <a:buFontTx/>
              <a:buNone/>
              <a:defRPr sz="770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Прогноз риска ССЗ</a:t>
            </a:r>
            <a:br/>
            <a:r>
              <a:t>методами машинного обучения</a:t>
            </a:r>
          </a:p>
        </p:txBody>
      </p:sp>
      <p:sp>
        <p:nvSpPr>
          <p:cNvPr id="226" name="Если нужно больше места,  то используйте подзаголовок (16 pt)"/>
          <p:cNvSpPr txBox="1"/>
          <p:nvPr>
            <p:ph type="body" idx="2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914400">
              <a:lnSpc>
                <a:spcPts val="5700"/>
              </a:lnSpc>
              <a:spcBef>
                <a:spcPts val="0"/>
              </a:spcBef>
              <a:buSzTx/>
              <a:buFontTx/>
              <a:buNone/>
              <a:defRPr sz="320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Система поддержки принятия врачебных решений на CatBoost</a:t>
            </a:r>
            <a:br/>
            <a:r>
              <a:t>Лыткин Иван Александрович, гр. 636-01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63"/>
          <p:cNvSpPr txBox="1"/>
          <p:nvPr>
            <p:ph type="body" sz="quarter" idx="1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</p:spPr>
        <p:txBody>
          <a:bodyPr/>
          <a:lstStyle/>
          <a:p>
            <a:pPr marL="0" indent="0" defTabSz="25400">
              <a:spcBef>
                <a:spcPts val="240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  <a:r>
              <a:t>Научный аппарат</a:t>
            </a:r>
            <a:br/>
            <a:r>
              <a:t>исследования</a:t>
            </a:r>
          </a:p>
        </p:txBody>
      </p:sp>
      <p:sp>
        <p:nvSpPr>
          <p:cNvPr id="235" name="TextBox 14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  <a:r>
              <a:rPr lang="ru-RU" b="1"/>
              <a:t xml:space="preserve">Проблема. </a:t>
            </a:r>
            <a:r>
              <a:t>Отсутствуют апробированные и адаптированные к РФ системы поддержки врачебных решений, интегрирующие методы ИИ, стандарт HL7 FHIR Ru Core и требования ФЗ-152.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  <a:r>
              <a:rPr lang="ru-RU" b="1"/>
              <a:t xml:space="preserve">Объект. </a:t>
            </a:r>
            <a:r>
              <a:t>Процесс прогнозирования риска сердечно-сосудистых осложнений по структурированным медико-биологическим данным пациентов российской клиники.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  <a:r>
              <a:rPr lang="ru-RU" b="1"/>
              <a:t xml:space="preserve">Предмет. </a:t>
            </a:r>
            <a:r>
              <a:t>Методология и архитектура СПВРШ на основе градиентного бустинга CatBoost для анализа клинических, лабораторных и инструментальных показателей.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  <a:r>
              <a:rPr lang="ru-RU" b="1"/>
              <a:t xml:space="preserve">Гипотеза. </a:t>
            </a:r>
            <a:r>
              <a:t>Применение ансамбля методов ML (в частности CatBoost) повысит точность прогноза риска ССЗ на 15–25% по сравнению с традиционными шкалами риска.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  <a:r>
              <a:rPr lang="ru-RU" b="1"/>
              <a:t xml:space="preserve">Цель. </a:t>
            </a:r>
            <a:r>
              <a:t>Разработать концептуальный проект СПВРШ для прогноза индивидуального сердечно-сосудистого риска в первичном звене здравоохранения РФ.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  <a:r>
              <a:rPr lang="ru-RU" b="1"/>
              <a:t xml:space="preserve">Данные. </a:t>
            </a:r>
            <a:r>
              <a:t>Клинические (демография, анамнез, АД), лабораторные (липиды, глюкоза, СКФ, тропонины) и инструментальные (ЭКГ, ЭХО-КГ) показатели.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Box 15"/>
          <p:cNvSpPr txBox="1"/>
          <p:nvPr>
            <p:ph type="body" sz="quarter" idx="1"/>
          </p:nvPr>
        </p:nvSpPr>
        <p:spPr>
          <a:xfrm>
            <a:off x="1071388" y="4938019"/>
            <a:ext cx="9560764" cy="2951482"/>
          </a:xfrm>
          <a:prstGeom prst="rect">
            <a:avLst/>
          </a:prstGeom>
        </p:spPr>
        <p:txBody>
          <a:bodyPr/>
          <a:lstStyle/>
          <a:p>
            <a:pPr marL="0" indent="0" defTabSz="25146">
              <a:lnSpc>
                <a:spcPct val="100000"/>
              </a:lnSpc>
              <a:spcBef>
                <a:spcPts val="2500"/>
              </a:spcBef>
              <a:buSzTx/>
              <a:buNone/>
              <a:defRPr sz="1979">
                <a:latin typeface="+mn-lt"/>
                <a:ea typeface="+mn-ea"/>
                <a:cs typeface="+mn-cs"/>
                <a:sym typeface="Helvetica"/>
              </a:defRPr>
            </a:pPr>
            <a:r>
              <a:t>СПВРШ интегрируется с МИС / ЛИС / РИС через стандарт HL7 FHIR Ru Core; поддерживает форматы CSV и DICOM. Все персональные данные обезличиваются в соответствии с ФЗ-152.</a:t>
            </a:r>
          </a:p>
          <a:p>
            <a:pPr marL="0" indent="0" defTabSz="25146">
              <a:lnSpc>
                <a:spcPct val="100000"/>
              </a:lnSpc>
              <a:spcBef>
                <a:spcPts val="2500"/>
              </a:spcBef>
              <a:buSzTx/>
              <a:buNone/>
              <a:defRPr sz="1979">
                <a:latin typeface="+mn-lt"/>
                <a:ea typeface="+mn-ea"/>
                <a:cs typeface="+mn-cs"/>
                <a:sym typeface="Helvetica"/>
              </a:defRPr>
            </a:pPr>
            <a:r>
              <a:t>Модули: сбор и предобработка, инженерия признаков, машинное обучение (CatBoost + RF / XGBoost / LogReg для сравнения), интерпретация (SHAP), дашборд врача, аудит и мониторинг дрейфа данных.</a:t>
            </a:r>
          </a:p>
        </p:txBody>
      </p:sp>
      <p:sp>
        <p:nvSpPr>
          <p:cNvPr id="238" name="TextBox 23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Стек: Python, CatBoost (Яндекс), Scikit-learn, SHAP, FastAPI, PostgreSQL, GitLab Russian, VK Cloud, Docker.</a:t>
            </a:r>
          </a:p>
        </p:txBody>
      </p:sp>
      <p:sp>
        <p:nvSpPr>
          <p:cNvPr id="239" name="TextBox 63"/>
          <p:cNvSpPr txBox="1"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5400">
              <a:spcBef>
                <a:spcPts val="2400"/>
              </a:spcBef>
              <a:buSzTx/>
              <a:buFont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  <a:r>
              <a:t>Архитектура</a:t>
            </a:r>
            <a:br/>
            <a:r>
              <a:t>системы (СПВРШ)</a:t>
            </a:r>
          </a:p>
        </p:txBody>
      </p:sp>
      <p:sp>
        <p:nvSpPr>
          <p:cNvPr id="240" name="TextBox 22"/>
          <p:cNvSpPr txBox="1"/>
          <p:nvPr>
            <p:ph type="body" idx="2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  <a:r>
              <a:t xml:space="preserve">Конвейер: сбор данных (HL7 FHIR) → обезличивание (ФЗ-152) → </a:t>
            </a:r>
            <a:br/>
            <a:r>
              <a:t>инженерия признаков → CatBoost → SHAP → дашборд врача.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Box 17"/>
          <p:cNvSpPr txBox="1"/>
          <p:nvPr>
            <p:ph type="body" sz="quarter" idx="1"/>
          </p:nvPr>
        </p:nvSpPr>
        <p:spPr>
          <a:xfrm>
            <a:off x="1037232" y="2963421"/>
            <a:ext cx="7120557" cy="2113283"/>
          </a:xfrm>
          <a:prstGeom prst="rect">
            <a:avLst/>
          </a:prstGeom>
        </p:spPr>
        <p:txBody>
          <a:bodyPr/>
          <a:lstStyle/>
          <a:p>
            <a:pPr marL="0" indent="0" defTabSz="25146">
              <a:lnSpc>
                <a:spcPct val="100000"/>
              </a:lnSpc>
              <a:spcBef>
                <a:spcPts val="0"/>
              </a:spcBef>
              <a:buSzTx/>
              <a:buNone/>
              <a:defRPr sz="3168">
                <a:latin typeface="+mn-lt"/>
                <a:ea typeface="+mn-ea"/>
                <a:cs typeface="+mn-cs"/>
                <a:sym typeface="Helvetica"/>
              </a:defRPr>
            </a:pPr>
            <a:r>
              <a:t>Сравнение алгоритмов</a:t>
            </a:r>
            <a:br/>
            <a:r>
              <a:t>по AUC-ROC</a:t>
            </a:r>
          </a:p>
        </p:txBody>
      </p:sp>
      <p:sp>
        <p:nvSpPr>
          <p:cNvPr id="243" name="TextBox 18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Градиентный бустинг CatBoost превосходит классическую шкалу SCORE и случайный лес по интегральному показателю AUC-ROC. Прирост качества согласуется с гипотезой о повышении точности прогноза на 15–25%.</a:t>
            </a:r>
          </a:p>
        </p:txBody>
      </p:sp>
      <p:sp>
        <p:nvSpPr>
          <p:cNvPr id="244" name="TextBox 23"/>
          <p:cNvSpPr txBox="1"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Ориентировочные значения по данным литературы (Кемеровский кардиологический центр, 2023–2025) и плану эксперимента.</a:t>
            </a:r>
          </a:p>
        </p:txBody>
      </p:sp>
      <p:graphicFrame>
        <p:nvGraphicFramePr>
          <p:cNvPr id="245" name="Chart 1"/>
          <p:cNvGraphicFramePr/>
          <p:nvPr/>
        </p:nvGraphicFramePr>
        <p:xfrm>
          <a:off x="10574756" y="3420096"/>
          <a:ext cx="12513017" cy="852047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Box 16"/>
          <p:cNvSpPr txBox="1"/>
          <p:nvPr>
            <p:ph type="body" sz="quarter" idx="1"/>
          </p:nvPr>
        </p:nvSpPr>
        <p:spPr>
          <a:xfrm>
            <a:off x="1071390" y="4937092"/>
            <a:ext cx="5646296" cy="3103882"/>
          </a:xfrm>
          <a:prstGeom prst="rect">
            <a:avLst/>
          </a:prstGeom>
        </p:spPr>
        <p:txBody>
          <a:bodyPr/>
          <a:lstStyle/>
          <a:p>
            <a:pPr marL="0" indent="0" defTabSz="25146">
              <a:lnSpc>
                <a:spcPct val="100000"/>
              </a:lnSpc>
              <a:spcBef>
                <a:spcPts val="2300"/>
              </a:spcBef>
              <a:buSzTx/>
              <a:buNone/>
              <a:defRPr sz="19008">
                <a:latin typeface="+mn-lt"/>
                <a:ea typeface="+mn-ea"/>
                <a:cs typeface="+mn-cs"/>
                <a:sym typeface="Helvetica"/>
              </a:defRPr>
            </a:pPr>
            <a:r>
              <a:t>450</a:t>
            </a:r>
            <a:r>
              <a:rPr sz="3168"/>
              <a:t xml:space="preserve"> </a:t>
            </a:r>
          </a:p>
        </p:txBody>
      </p:sp>
      <p:sp>
        <p:nvSpPr>
          <p:cNvPr id="258" name="TextBox 22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5146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008">
                <a:latin typeface="+mn-lt"/>
                <a:ea typeface="+mn-ea"/>
                <a:cs typeface="+mn-cs"/>
                <a:sym typeface="Helvetica"/>
              </a:defRPr>
            </a:pPr>
            <a:r>
              <a:t>20</a:t>
            </a:r>
            <a:r>
              <a:rPr sz="3168"/>
              <a:t xml:space="preserve"> %</a:t>
            </a:r>
          </a:p>
        </p:txBody>
      </p:sp>
      <p:sp>
        <p:nvSpPr>
          <p:cNvPr id="259" name="TextBox 26"/>
          <p:cNvSpPr txBox="1"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5146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008">
                <a:latin typeface="+mn-lt"/>
                <a:ea typeface="+mn-ea"/>
                <a:cs typeface="+mn-cs"/>
                <a:sym typeface="Helvetica"/>
              </a:defRPr>
            </a:pPr>
            <a:r>
              <a:t>0,85</a:t>
            </a:r>
            <a:r>
              <a:rPr sz="3168"/>
              <a:t xml:space="preserve"> AUC</a:t>
            </a:r>
          </a:p>
        </p:txBody>
      </p:sp>
      <p:sp>
        <p:nvSpPr>
          <p:cNvPr id="260" name="TextBox 63"/>
          <p:cNvSpPr txBox="1"/>
          <p:nvPr>
            <p:ph type="body" idx="2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5400">
              <a:spcBef>
                <a:spcPts val="2400"/>
              </a:spcBef>
              <a:buSzTx/>
              <a:buFont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  <a:r>
              <a:t>Актуальность проблемы</a:t>
            </a:r>
            <a:br/>
            <a:r>
              <a:t>сердечно-сосудистого риска</a:t>
            </a:r>
          </a:p>
        </p:txBody>
      </p:sp>
      <p:sp>
        <p:nvSpPr>
          <p:cNvPr id="261" name="TextBox 18"/>
          <p:cNvSpPr txBox="1"/>
          <p:nvPr>
            <p:ph type="body" idx="2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Целевой показатель смертности от болезней системы кровообращения — 450 на 100 000 населения (нацпроект «Продолжительная и активная жизнь», 2025–2030).</a:t>
            </a:r>
          </a:p>
        </p:txBody>
      </p:sp>
      <p:sp>
        <p:nvSpPr>
          <p:cNvPr id="262" name="TextBox 20"/>
          <p:cNvSpPr txBox="1"/>
          <p:nvPr>
            <p:ph type="body" idx="2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Прирост точности прогноза риска (на 15–25%) при использовании машинного обучения против классических шкал (Framingham, SCORE).</a:t>
            </a:r>
          </a:p>
        </p:txBody>
      </p:sp>
      <p:sp>
        <p:nvSpPr>
          <p:cNvPr id="263" name="TextBox 23"/>
          <p:cNvSpPr txBox="1"/>
          <p:nvPr>
            <p:ph type="body" idx="26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Значение AUC-ROC, достигнутое ML-моделями на данных российских клиник, против ≈ 0,75 у традиционных шкал риска.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Box 28"/>
          <p:cNvSpPr txBox="1"/>
          <p:nvPr>
            <p:ph type="body" sz="quarter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</p:spPr>
        <p:txBody>
          <a:bodyPr/>
          <a:lstStyle/>
          <a:p>
            <a:pPr marL="0" indent="0" defTabSz="25146">
              <a:lnSpc>
                <a:spcPct val="100000"/>
              </a:lnSpc>
              <a:spcBef>
                <a:spcPts val="0"/>
              </a:spcBef>
              <a:buSzTx/>
              <a:buNone/>
              <a:defRPr sz="3168">
                <a:latin typeface="+mn-lt"/>
                <a:ea typeface="+mn-ea"/>
                <a:cs typeface="+mn-cs"/>
                <a:sym typeface="Helvetica"/>
              </a:defRPr>
            </a:pPr>
            <a:r>
              <a:t>Сравнение моделей</a:t>
            </a:r>
          </a:p>
          <a:p>
            <a:pPr marL="0" indent="0" defTabSz="25146">
              <a:lnSpc>
                <a:spcPct val="100000"/>
              </a:lnSpc>
              <a:spcBef>
                <a:spcPts val="0"/>
              </a:spcBef>
              <a:buSzTx/>
              <a:buNone/>
              <a:defRPr sz="3168">
                <a:latin typeface="+mn-lt"/>
                <a:ea typeface="+mn-ea"/>
                <a:cs typeface="+mn-cs"/>
                <a:sym typeface="Helvetica"/>
              </a:defRPr>
            </a:pPr>
            <a:r>
              <a:t>по метрикам качества</a:t>
            </a:r>
          </a:p>
        </p:txBody>
      </p:sp>
      <p:sp>
        <p:nvSpPr>
          <p:cNvPr id="266" name="TextBox 29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11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CatBoost обеспечивает наилучший баланс метрик. Классические шкалы и логистическая регрессия уступают ансамблевым методам по всем показателям, что подтверждает рабочую гипотезу.</a:t>
            </a:r>
          </a:p>
        </p:txBody>
      </p:sp>
      <p:graphicFrame>
        <p:nvGraphicFramePr>
          <p:cNvPr id="267" name="Table 2"/>
          <p:cNvGraphicFramePr/>
          <p:nvPr/>
        </p:nvGraphicFramePr>
        <p:xfrm>
          <a:off x="1034398" y="4549714"/>
          <a:ext cx="22240632" cy="5977175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6354467"/>
                <a:gridCol w="3177233"/>
                <a:gridCol w="3177233"/>
                <a:gridCol w="3177233"/>
                <a:gridCol w="3177233"/>
                <a:gridCol w="3177233"/>
              </a:tblGrid>
              <a:tr h="1195435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Модель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Accuracy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AUC-ROC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Precision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Recall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F1-score</a:t>
                      </a:r>
                    </a:p>
                  </a:txBody>
                  <a:tcPr marL="45720" marR="45720" marT="45720" marB="45720" anchor="t" anchorCtr="0" horzOverflow="overflow">
                    <a:lnR w="12700">
                      <a:miter lim="400000"/>
                    </a:lnR>
                  </a:tcPr>
                </a:tc>
              </a:tr>
              <a:tr h="1195435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Шкала SCORE (baseline)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0,72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0,75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0,68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0,70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0,69</a:t>
                      </a:r>
                    </a:p>
                  </a:txBody>
                  <a:tcPr marL="45720" marR="45720" marT="45720" marB="45720" anchor="t" anchorCtr="0" horzOverflow="overflow">
                    <a:lnR w="12700">
                      <a:miter lim="400000"/>
                    </a:lnR>
                  </a:tcPr>
                </a:tc>
              </a:tr>
              <a:tr h="1195435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Logistic Regression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0,78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0,82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0,75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0,77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0,76</a:t>
                      </a:r>
                    </a:p>
                  </a:txBody>
                  <a:tcPr marL="45720" marR="45720" marT="45720" marB="45720" anchor="t" anchorCtr="0" horzOverflow="overflow">
                    <a:lnR w="12700">
                      <a:miter lim="400000"/>
                    </a:lnR>
                  </a:tcPr>
                </a:tc>
              </a:tr>
              <a:tr h="1195435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Random Forest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0,81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0,84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0,79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0,80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0,79</a:t>
                      </a:r>
                    </a:p>
                  </a:txBody>
                  <a:tcPr marL="45720" marR="45720" marT="45720" marB="45720" anchor="t" anchorCtr="0" horzOverflow="overflow">
                    <a:lnR w="12700">
                      <a:miter lim="400000"/>
                    </a:lnR>
                  </a:tcPr>
                </a:tc>
              </a:tr>
              <a:tr h="1195435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CatBoost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0,84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0,86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0,82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0,85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600">
                          <a:solidFill>
                            <a:srgbClr val="102D69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0,83</a:t>
                      </a:r>
                    </a:p>
                  </a:txBody>
                  <a:tcPr marL="45720" marR="45720" marT="45720" marB="45720" anchor="t" anchorCtr="0" horzOverflow="overflow">
                    <a:lnR w="12700">
                      <a:miter lim="400000"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63"/>
          <p:cNvSpPr txBox="1"/>
          <p:nvPr>
            <p:ph type="body" sz="quarter" idx="1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</p:spPr>
        <p:txBody>
          <a:bodyPr/>
          <a:lstStyle/>
          <a:p>
            <a:pPr marL="0" indent="0" defTabSz="25400">
              <a:spcBef>
                <a:spcPts val="240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  <a:r>
              <a:t>Подготовка данных</a:t>
            </a:r>
            <a:br/>
            <a:r>
              <a:t>и обучение CatBoost</a:t>
            </a:r>
          </a:p>
        </p:txBody>
      </p:sp>
      <p:sp>
        <p:nvSpPr>
          <p:cNvPr id="235" name="TextBox 14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numCol="1"/>
          <a:lstStyle/>
          <a:p>
            <a:pPr marL="0" indent="0">
              <a:lnSpc>
                <a:spcPct val="100000"/>
              </a:lnSpc>
              <a:spcBef>
                <a:spcPts val="1400"/>
              </a:spcBef>
              <a:buSzTx/>
              <a:buFontTx/>
              <a:buNone/>
            </a:pPr>
            <a:r>
              <a:rPr lang="ru-RU" sz="1600"/>
              <a:t xml:space="preserve">Категориальные признаки CatBoost обрабатывает автоматически — без one-hot кодирования.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SzTx/>
              <a:buFontTx/>
              <a:buNone/>
            </a:pP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import pandas as pd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from catboost import CatBoostClassifier, Pool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from sklearn.model_selection import train_test_split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/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df = pd.read_csv("cardio_ru.csv")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cat = ["sex", "smoking", "diabetes"]   # категории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X, y = df.drop(columns="event"), df["event"]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X_tr, X_te, y_tr, y_te = train_test_split(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    X, y, test_size=0.3, stratify=y, random_state=42)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SzTx/>
              <a:buFontTx/>
              <a:buNone/>
            </a:pPr>
            <a:r>
              <a:rPr lang="ru-RU" sz="1600" b="1"/>
              <a:t xml:space="preserve">Обучение модели с метрикой AUC на отложенной выборке: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SzTx/>
              <a:buFontTx/>
              <a:buNone/>
            </a:pP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model = CatBoostClassifier(iterations=1500, depth=6,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        learning_rate=0.05, eval_metric="AUC",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        random_seed=42, verbose=False)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model.fit(Pool(X_tr, y_tr, cat_features=cat),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          eval_set=Pool(X_te, y_te, cat_features=cat))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63"/>
          <p:cNvSpPr txBox="1"/>
          <p:nvPr>
            <p:ph type="body" sz="quarter" idx="1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</p:spPr>
        <p:txBody>
          <a:bodyPr/>
          <a:lstStyle/>
          <a:p>
            <a:pPr marL="0" indent="0" defTabSz="25400">
              <a:spcBef>
                <a:spcPts val="240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  <a:r>
              <a:t>Оценка качества</a:t>
            </a:r>
            <a:br/>
            <a:r>
              <a:t>и интерпретация (SHAP)</a:t>
            </a:r>
          </a:p>
        </p:txBody>
      </p:sp>
      <p:sp>
        <p:nvSpPr>
          <p:cNvPr id="235" name="TextBox 14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numCol="1"/>
          <a:lstStyle/>
          <a:p>
            <a:pPr marL="0" indent="0">
              <a:lnSpc>
                <a:spcPct val="100000"/>
              </a:lnSpc>
              <a:spcBef>
                <a:spcPts val="1400"/>
              </a:spcBef>
              <a:buSzTx/>
              <a:buFontTx/>
              <a:buNone/>
            </a:pPr>
            <a:r>
              <a:rPr lang="ru-RU" sz="1600"/>
              <a:t xml:space="preserve">Качество оценивается стандартными метриками; AUC-ROC — интегральный критерий.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SzTx/>
              <a:buFontTx/>
              <a:buNone/>
            </a:pP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from sklearn.metrics import (roc_auc_score,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        f1_score, precision_score, recall_score)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/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proba = model.predict_proba(X_te)[:, 1]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pred  = (proba &gt;= 0.5).astype(int)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print("AUC :", roc_auc_score(y_te, proba))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print("F1  :", f1_score(y_te, pred))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SzTx/>
              <a:buFontTx/>
              <a:buNone/>
            </a:pPr>
            <a:r>
              <a:rPr lang="ru-RU" sz="1600" b="1"/>
              <a:t xml:space="preserve">Объяснение вклада признаков для конкретного пациента: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SzTx/>
              <a:buFontTx/>
              <a:buNone/>
            </a:pP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import shap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explainer = shap.TreeExplainer(model)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shap_values = explainer.shap_values(X_te)</a:t>
            </a:r>
            <a:br>
              <a:rPr lang="en-US" sz="1300">
                <a:latin typeface="Courier New"/>
                <a:cs typeface="Courier New"/>
              </a:rPr>
            </a:br>
            <a:r>
              <a:rPr lang="en-US" sz="1300">
                <a:solidFill>
                  <a:srgbClr val="1A2F66"/>
                </a:solidFill>
                <a:latin typeface="Courier New"/>
                <a:cs typeface="Courier New"/>
              </a:rPr>
              <a:t xml:space="preserve">shap.summary_plot(shap_values, X_te)  # важность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Box 16"/>
          <p:cNvSpPr txBox="1"/>
          <p:nvPr>
            <p:ph type="body" sz="quarter" idx="1"/>
          </p:nvPr>
        </p:nvSpPr>
        <p:spPr>
          <a:xfrm>
            <a:off x="1071390" y="4937092"/>
            <a:ext cx="5646296" cy="3103882"/>
          </a:xfrm>
          <a:prstGeom prst="rect">
            <a:avLst/>
          </a:prstGeom>
        </p:spPr>
        <p:txBody>
          <a:bodyPr/>
          <a:lstStyle/>
          <a:p>
            <a:pPr marL="0" indent="0" defTabSz="25146">
              <a:lnSpc>
                <a:spcPct val="100000"/>
              </a:lnSpc>
              <a:spcBef>
                <a:spcPts val="2300"/>
              </a:spcBef>
              <a:buSzTx/>
              <a:buNone/>
              <a:defRPr sz="19008">
                <a:latin typeface="+mn-lt"/>
                <a:ea typeface="+mn-ea"/>
                <a:cs typeface="+mn-cs"/>
                <a:sym typeface="Helvetica"/>
              </a:defRPr>
            </a:pPr>
            <a:r>
              <a:t>0,86</a:t>
            </a:r>
            <a:r>
              <a:rPr sz="3168"/>
              <a:t xml:space="preserve"> </a:t>
            </a:r>
          </a:p>
        </p:txBody>
      </p:sp>
      <p:sp>
        <p:nvSpPr>
          <p:cNvPr id="258" name="TextBox 22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5146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008">
                <a:latin typeface="+mn-lt"/>
                <a:ea typeface="+mn-ea"/>
                <a:cs typeface="+mn-cs"/>
                <a:sym typeface="Helvetica"/>
              </a:defRPr>
            </a:pPr>
            <a:r>
              <a:t>0,83</a:t>
            </a:r>
            <a:r>
              <a:rPr sz="3168"/>
              <a:t xml:space="preserve"> </a:t>
            </a:r>
          </a:p>
        </p:txBody>
      </p:sp>
      <p:sp>
        <p:nvSpPr>
          <p:cNvPr id="259" name="TextBox 26"/>
          <p:cNvSpPr txBox="1"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5146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008">
                <a:latin typeface="+mn-lt"/>
                <a:ea typeface="+mn-ea"/>
                <a:cs typeface="+mn-cs"/>
                <a:sym typeface="Helvetica"/>
              </a:defRPr>
            </a:pPr>
            <a:r>
              <a:t>+20</a:t>
            </a:r>
            <a:r>
              <a:rPr sz="3168"/>
              <a:t xml:space="preserve"> %</a:t>
            </a:r>
          </a:p>
        </p:txBody>
      </p:sp>
      <p:sp>
        <p:nvSpPr>
          <p:cNvPr id="260" name="TextBox 63"/>
          <p:cNvSpPr txBox="1"/>
          <p:nvPr>
            <p:ph type="body" idx="2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5400">
              <a:spcBef>
                <a:spcPts val="2400"/>
              </a:spcBef>
              <a:buSzTx/>
              <a:buFont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  <a:r>
              <a:t>Результаты</a:t>
            </a:r>
            <a:br/>
            <a:r>
              <a:t>и целевые метрики</a:t>
            </a:r>
          </a:p>
        </p:txBody>
      </p:sp>
      <p:sp>
        <p:nvSpPr>
          <p:cNvPr id="261" name="TextBox 18"/>
          <p:cNvSpPr txBox="1"/>
          <p:nvPr>
            <p:ph type="body" idx="2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AUC-ROC модели CatBoost — интегральный показатель качества классификатора (целевое значение ≥ 0,85).</a:t>
            </a:r>
          </a:p>
        </p:txBody>
      </p:sp>
      <p:sp>
        <p:nvSpPr>
          <p:cNvPr id="262" name="TextBox 20"/>
          <p:cNvSpPr txBox="1"/>
          <p:nvPr>
            <p:ph type="body" idx="2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F1-score — гармоническое среднее точности и полноты; устойчив на несбалансированных классах.</a:t>
            </a:r>
          </a:p>
        </p:txBody>
      </p:sp>
      <p:sp>
        <p:nvSpPr>
          <p:cNvPr id="263" name="TextBox 23"/>
          <p:cNvSpPr txBox="1"/>
          <p:nvPr>
            <p:ph type="body" idx="26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Прирост точности прогноза по сравнению с традиционными клиническими шкалами (Framingham, SCORE).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Box 15"/>
          <p:cNvSpPr txBox="1"/>
          <p:nvPr>
            <p:ph type="body" sz="quarter" idx="1"/>
          </p:nvPr>
        </p:nvSpPr>
        <p:spPr>
          <a:xfrm>
            <a:off x="1071388" y="4938019"/>
            <a:ext cx="9560764" cy="2951482"/>
          </a:xfrm>
          <a:prstGeom prst="rect">
            <a:avLst/>
          </a:prstGeom>
        </p:spPr>
        <p:txBody>
          <a:bodyPr/>
          <a:lstStyle/>
          <a:p>
            <a:pPr marL="0" indent="0" defTabSz="25146">
              <a:lnSpc>
                <a:spcPct val="100000"/>
              </a:lnSpc>
              <a:spcBef>
                <a:spcPts val="2500"/>
              </a:spcBef>
              <a:buSzTx/>
              <a:buNone/>
              <a:defRPr sz="1979">
                <a:latin typeface="+mn-lt"/>
                <a:ea typeface="+mn-ea"/>
                <a:cs typeface="+mn-cs"/>
                <a:sym typeface="Helvetica"/>
              </a:defRPr>
            </a:pPr>
            <a:r>
              <a:t>Гипотеза обоснована: ансамблевые методы ML повышают точность прогноза на 15–25% по сравнению с классическими шкалами при соблюдении ФЗ-152 и поддержке HL7 FHIR Ru Core.</a:t>
            </a:r>
          </a:p>
          <a:p>
            <a:pPr marL="0" indent="0" defTabSz="25146">
              <a:lnSpc>
                <a:spcPct val="100000"/>
              </a:lnSpc>
              <a:spcBef>
                <a:spcPts val="2500"/>
              </a:spcBef>
              <a:buSzTx/>
              <a:buNone/>
              <a:defRPr sz="1979">
                <a:latin typeface="+mn-lt"/>
                <a:ea typeface="+mn-ea"/>
                <a:cs typeface="+mn-cs"/>
                <a:sym typeface="Helvetica"/>
              </a:defRPr>
            </a:pPr>
            <a:r>
              <a:t>Перспективы: вычислительный эксперимент на выборке 3000–5000 пациентов, прототип дашборда врача, пилот в 2–3 клиниках и интеграция в ЕМИАС и единый цифровой контур.</a:t>
            </a:r>
          </a:p>
        </p:txBody>
      </p:sp>
      <p:sp>
        <p:nvSpPr>
          <p:cNvPr id="238" name="TextBox 23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4638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4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Соответствие нацпроекту «Продолжительная и активная жизнь» (2025–2030) и политике импортозамещения.</a:t>
            </a:r>
          </a:p>
        </p:txBody>
      </p:sp>
      <p:sp>
        <p:nvSpPr>
          <p:cNvPr id="239" name="TextBox 63"/>
          <p:cNvSpPr txBox="1"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5400">
              <a:spcBef>
                <a:spcPts val="2400"/>
              </a:spcBef>
              <a:buSzTx/>
              <a:buFont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  <a:r>
              <a:t>Выводы</a:t>
            </a:r>
            <a:br/>
            <a:r>
              <a:t>и перспективы</a:t>
            </a:r>
          </a:p>
        </p:txBody>
      </p:sp>
      <p:sp>
        <p:nvSpPr>
          <p:cNvPr id="240" name="TextBox 22"/>
          <p:cNvSpPr txBox="1"/>
          <p:nvPr>
            <p:ph type="body" idx="2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4800">
                <a:latin typeface="+mn-lt"/>
                <a:ea typeface="+mn-ea"/>
                <a:cs typeface="+mn-cs"/>
                <a:sym typeface="Helvetica"/>
              </a:defRPr>
            </a:pPr>
            <a:r>
              <a:t xml:space="preserve">CatBoost и интеграция разнородных данных повышают точность </a:t>
            </a:r>
            <a:br/>
            <a:r>
              <a:t>прогноза ССЗ-риска для первичного звена.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8" tIns="91438" rIns="91438" bIns="91438" numCol="1" spcCol="38100" rtlCol="0" anchor="ctr" upright="0">
        <a:spAutoFit/>
      </a:bodyPr>
      <a:lstStyle>
        <a:defPPr marL="0" marR="0" indent="0" algn="l" defTabSz="25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SE Sans Regular"/>
            <a:ea typeface="HSE Sans Regular"/>
            <a:cs typeface="HSE Sans Regular"/>
            <a:sym typeface="HSE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8" tIns="91438" rIns="91438" bIns="91438" numCol="1" spcCol="38100" rtlCol="0" anchor="t" upright="0">
        <a:spAutoFit/>
      </a:bodyPr>
      <a:lstStyle>
        <a:defPPr marL="0" marR="0" indent="0" algn="l" defTabSz="25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SE Sans Regular"/>
            <a:ea typeface="HSE Sans Regular"/>
            <a:cs typeface="HSE Sans Regular"/>
            <a:sym typeface="HSE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8" tIns="91438" rIns="91438" bIns="91438" numCol="1" spcCol="38100" rtlCol="0" anchor="ctr" upright="0">
        <a:spAutoFit/>
      </a:bodyPr>
      <a:lstStyle>
        <a:defPPr marL="0" marR="0" indent="0" algn="l" defTabSz="25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SE Sans Regular"/>
            <a:ea typeface="HSE Sans Regular"/>
            <a:cs typeface="HSE Sans Regular"/>
            <a:sym typeface="HSE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8" tIns="91438" rIns="91438" bIns="91438" numCol="1" spcCol="38100" rtlCol="0" anchor="t" upright="0">
        <a:spAutoFit/>
      </a:bodyPr>
      <a:lstStyle>
        <a:defPPr marL="0" marR="0" indent="0" algn="l" defTabSz="25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SE Sans Regular"/>
            <a:ea typeface="HSE Sans Regular"/>
            <a:cs typeface="HSE Sans Regular"/>
            <a:sym typeface="HSE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