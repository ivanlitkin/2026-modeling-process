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" charset="1" panose="02000503000000020004"/>
      <p:regular r:id="rId20"/>
    </p:embeddedFont>
    <p:embeddedFont>
      <p:font typeface="DM Sans" charset="1" panose="00000000000000000000"/>
      <p:regular r:id="rId21"/>
    </p:embeddedFont>
    <p:embeddedFont>
      <p:font typeface="Inter Bold" charset="1" panose="0200050300000002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5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811684"/>
            <a:ext cx="5256162" cy="532800"/>
            <a:chOff x="0" y="0"/>
            <a:chExt cx="7008216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08241" cy="710438"/>
            </a:xfrm>
            <a:custGeom>
              <a:avLst/>
              <a:gdLst/>
              <a:ahLst/>
              <a:cxnLst/>
              <a:rect r="r" b="b" t="t" l="l"/>
              <a:pathLst>
                <a:path h="710438" w="700824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6962902" y="0"/>
                  </a:lnTo>
                  <a:cubicBezTo>
                    <a:pt x="6987921" y="0"/>
                    <a:pt x="7008241" y="20320"/>
                    <a:pt x="7008241" y="45339"/>
                  </a:cubicBezTo>
                  <a:lnTo>
                    <a:pt x="7008241" y="665099"/>
                  </a:lnTo>
                  <a:cubicBezTo>
                    <a:pt x="7008241" y="690118"/>
                    <a:pt x="6987921" y="710438"/>
                    <a:pt x="6962902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11074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829991"/>
            <a:ext cx="5830338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НИР · СЕЧЕНОВСКИЙ УНИВЕРСИТЕТ ·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438848"/>
            <a:ext cx="16303523" cy="267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Разработка прототипа цифровой образовательной платформы на основе генеративного ИИ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455291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Формирование клинико-коммуникативных навыков «врач–пациент» у студентов медицинских вузов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6384427"/>
            <a:ext cx="16303523" cy="21136"/>
            <a:chOff x="0" y="0"/>
            <a:chExt cx="21738031" cy="281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38082" cy="28194"/>
            </a:xfrm>
            <a:custGeom>
              <a:avLst/>
              <a:gdLst/>
              <a:ahLst/>
              <a:cxnLst/>
              <a:rect r="r" b="b" t="t" l="l"/>
              <a:pathLst>
                <a:path h="2819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8194"/>
                  </a:lnTo>
                  <a:lnTo>
                    <a:pt x="0" y="28194"/>
                  </a:lnTo>
                  <a:close/>
                </a:path>
              </a:pathLst>
            </a:custGeom>
            <a:solidFill>
              <a:srgbClr val="D6D9D7">
                <a:alpha val="24706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238" y="6709620"/>
            <a:ext cx="16303523" cy="85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Исполнитель:</a:t>
            </a: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Солодовников Марк Эдуардович, гр. 636-02 · ИСиТ</a:t>
            </a:r>
          </a:p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Научный руководитель:</a:t>
            </a: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Андриков Денис Анатольевич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632795"/>
            <a:ext cx="2223640" cy="561384"/>
            <a:chOff x="0" y="0"/>
            <a:chExt cx="2964853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64815" cy="748412"/>
            </a:xfrm>
            <a:custGeom>
              <a:avLst/>
              <a:gdLst/>
              <a:ahLst/>
              <a:cxnLst/>
              <a:rect r="r" b="b" t="t" l="l"/>
              <a:pathLst>
                <a:path h="748412" w="2964815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2918714" y="0"/>
                  </a:lnTo>
                  <a:cubicBezTo>
                    <a:pt x="2944241" y="0"/>
                    <a:pt x="2964815" y="20701"/>
                    <a:pt x="2964815" y="46101"/>
                  </a:cubicBezTo>
                  <a:lnTo>
                    <a:pt x="2964815" y="702310"/>
                  </a:lnTo>
                  <a:cubicBezTo>
                    <a:pt x="2964815" y="727837"/>
                    <a:pt x="2944114" y="748411"/>
                    <a:pt x="2918714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183" r="-1" b="-27197"/>
              </a:stretch>
            </a:blipFill>
            <a:ln w="9526" cap="sq">
              <a:solidFill>
                <a:srgbClr val="AC9EF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665389"/>
            <a:ext cx="2769241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АКТУАЛЬНОСТЬ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283771"/>
            <a:ext cx="1564600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Проблема и государственные приоритеты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887981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Проблема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538215"/>
            <a:ext cx="7805890" cy="3912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Дефицит массовой и безопасной отработки </a:t>
            </a:r>
            <a:r>
              <a:rPr lang="en-US" b="true" sz="220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soft skills</a:t>
            </a: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у студентов-медиков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Традиционное обучение (лекции + редкие контакты с пациентами) не обеспечивает вариативную практику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Коммуникация напрямую влияет на приверженность терапии и доверие к системе здравоохранения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95209" y="3613995"/>
            <a:ext cx="8214274" cy="5035448"/>
            <a:chOff x="0" y="0"/>
            <a:chExt cx="10952366" cy="67139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52352" cy="6713982"/>
            </a:xfrm>
            <a:custGeom>
              <a:avLst/>
              <a:gdLst/>
              <a:ahLst/>
              <a:cxnLst/>
              <a:rect r="r" b="b" t="t" l="l"/>
              <a:pathLst>
                <a:path h="6713982" w="1095235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895584" y="0"/>
                  </a:lnTo>
                  <a:cubicBezTo>
                    <a:pt x="10926952" y="0"/>
                    <a:pt x="10952352" y="25400"/>
                    <a:pt x="10952352" y="56769"/>
                  </a:cubicBezTo>
                  <a:lnTo>
                    <a:pt x="10952352" y="6657213"/>
                  </a:lnTo>
                  <a:cubicBezTo>
                    <a:pt x="10952352" y="6688582"/>
                    <a:pt x="10926952" y="6713982"/>
                    <a:pt x="10895584" y="6713982"/>
                  </a:cubicBezTo>
                  <a:lnTo>
                    <a:pt x="56769" y="6713982"/>
                  </a:lnTo>
                  <a:cubicBezTo>
                    <a:pt x="25400" y="6713982"/>
                    <a:pt x="0" y="6688582"/>
                    <a:pt x="0" y="6657213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78731" y="3887981"/>
            <a:ext cx="6145559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Государственные приоритеты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78731" y="4538215"/>
            <a:ext cx="7647232" cy="401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Указ Президента № 896 — Стратегия развития здравоохранения до 2030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Указ № 490 — О развитии искусственного интеллекта в РФ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Распоряжение № 1805-р — Цифровая трансформация образования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Федеральный проект «Цифровые сервисы здравоохранения»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803502"/>
            <a:ext cx="1584722" cy="561384"/>
            <a:chOff x="0" y="0"/>
            <a:chExt cx="2112962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12899" cy="748412"/>
            </a:xfrm>
            <a:custGeom>
              <a:avLst/>
              <a:gdLst/>
              <a:ahLst/>
              <a:cxnLst/>
              <a:rect r="r" b="b" t="t" l="l"/>
              <a:pathLst>
                <a:path h="748412" w="2112899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2066798" y="0"/>
                  </a:lnTo>
                  <a:cubicBezTo>
                    <a:pt x="2092325" y="0"/>
                    <a:pt x="2112899" y="20701"/>
                    <a:pt x="2112899" y="46101"/>
                  </a:cubicBezTo>
                  <a:lnTo>
                    <a:pt x="2112899" y="702310"/>
                  </a:lnTo>
                  <a:cubicBezTo>
                    <a:pt x="2112899" y="727837"/>
                    <a:pt x="2092198" y="748411"/>
                    <a:pt x="2066798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04" r="-2" b="-5018"/>
              </a:stretch>
            </a:blipFill>
            <a:ln w="9526" cap="sq">
              <a:solidFill>
                <a:srgbClr val="AC9EF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836096"/>
            <a:ext cx="2130323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ГИПОТЕЗА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454478"/>
            <a:ext cx="12110590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Рабочая гипотеза исследования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17444" y="3698977"/>
            <a:ext cx="1587832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Внедрение платформы на основе генеративного ИИ окажет </a:t>
            </a:r>
            <a:r>
              <a:rPr lang="en-US" sz="2200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статистически значимое положительное влияние</a:t>
            </a: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на формирование клинико-коммуникативных компетенций студентов медицинских вузов.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238" y="5010893"/>
            <a:ext cx="8009934" cy="3467700"/>
          </a:xfrm>
          <a:custGeom>
            <a:avLst/>
            <a:gdLst/>
            <a:ahLst/>
            <a:cxnLst/>
            <a:rect r="r" b="b" t="t" l="l"/>
            <a:pathLst>
              <a:path h="3467700" w="8009934">
                <a:moveTo>
                  <a:pt x="0" y="0"/>
                </a:moveTo>
                <a:lnTo>
                  <a:pt x="8009935" y="0"/>
                </a:lnTo>
                <a:lnTo>
                  <a:pt x="8009935" y="3467700"/>
                </a:lnTo>
                <a:lnTo>
                  <a:pt x="0" y="346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4" r="0" b="-124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4784522" y="5208394"/>
            <a:ext cx="425206" cy="531609"/>
            <a:chOff x="0" y="0"/>
            <a:chExt cx="566941" cy="7088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6936" cy="708819"/>
            </a:xfrm>
            <a:custGeom>
              <a:avLst/>
              <a:gdLst/>
              <a:ahLst/>
              <a:cxnLst/>
              <a:rect r="r" b="b" t="t" l="l"/>
              <a:pathLst>
                <a:path h="708819" w="566936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1" t="0" r="-110412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566941" cy="708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D6D9D7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13850" y="6173543"/>
            <a:ext cx="44971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Реалистичность диалогов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3850" y="6710363"/>
            <a:ext cx="7366692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LLM на российских клинических данных обеспечит качество диалогов </a:t>
            </a:r>
            <a:r>
              <a:rPr lang="en-US" sz="2200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≥ 4,0 балла</a:t>
            </a: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по шкале Ликерта (экспертная оценка).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285684" y="5010893"/>
            <a:ext cx="8010077" cy="3467700"/>
          </a:xfrm>
          <a:custGeom>
            <a:avLst/>
            <a:gdLst/>
            <a:ahLst/>
            <a:cxnLst/>
            <a:rect r="r" b="b" t="t" l="l"/>
            <a:pathLst>
              <a:path h="3467700" w="8010077">
                <a:moveTo>
                  <a:pt x="0" y="0"/>
                </a:moveTo>
                <a:lnTo>
                  <a:pt x="8010078" y="0"/>
                </a:lnTo>
                <a:lnTo>
                  <a:pt x="8010078" y="3467700"/>
                </a:lnTo>
                <a:lnTo>
                  <a:pt x="0" y="346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26" r="0" b="-125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3078120" y="5208394"/>
            <a:ext cx="425206" cy="531609"/>
            <a:chOff x="0" y="0"/>
            <a:chExt cx="566941" cy="7088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6936" cy="708819"/>
            </a:xfrm>
            <a:custGeom>
              <a:avLst/>
              <a:gdLst/>
              <a:ahLst/>
              <a:cxnLst/>
              <a:rect r="r" b="b" t="t" l="l"/>
              <a:pathLst>
                <a:path h="708819" w="566936">
                  <a:moveTo>
                    <a:pt x="0" y="0"/>
                  </a:moveTo>
                  <a:lnTo>
                    <a:pt x="566936" y="0"/>
                  </a:lnTo>
                  <a:lnTo>
                    <a:pt x="566936" y="708819"/>
                  </a:lnTo>
                  <a:lnTo>
                    <a:pt x="0" y="7088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1" t="0" r="-110412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566941" cy="7088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>
                  <a:solidFill>
                    <a:srgbClr val="D6D9D7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607306" y="6173543"/>
            <a:ext cx="5492506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Педагогическая эффективность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7306" y="6710363"/>
            <a:ext cx="7366845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Систематическое использование платформы повысит баллы по шкале </a:t>
            </a:r>
            <a:r>
              <a:rPr lang="en-US" sz="2200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SEGUE Framework</a:t>
            </a: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по сравнению с контрольной группой.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602581"/>
            <a:ext cx="2172443" cy="561384"/>
            <a:chOff x="0" y="0"/>
            <a:chExt cx="2896591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96489" cy="748412"/>
            </a:xfrm>
            <a:custGeom>
              <a:avLst/>
              <a:gdLst/>
              <a:ahLst/>
              <a:cxnLst/>
              <a:rect r="r" b="b" t="t" l="l"/>
              <a:pathLst>
                <a:path h="748412" w="2896489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2850388" y="0"/>
                  </a:lnTo>
                  <a:cubicBezTo>
                    <a:pt x="2875915" y="0"/>
                    <a:pt x="2896489" y="20701"/>
                    <a:pt x="2896489" y="46101"/>
                  </a:cubicBezTo>
                  <a:lnTo>
                    <a:pt x="2896489" y="702310"/>
                  </a:lnTo>
                  <a:cubicBezTo>
                    <a:pt x="2896489" y="727837"/>
                    <a:pt x="2875788" y="748411"/>
                    <a:pt x="2850388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06" r="-3" b="-25420"/>
              </a:stretch>
            </a:blipFill>
            <a:ln w="9526" cap="sq">
              <a:solidFill>
                <a:srgbClr val="AC9EF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635176"/>
            <a:ext cx="2718044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МЕТОДОЛОГИЯ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253558"/>
            <a:ext cx="1338828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Материалы и методы исследования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857777"/>
            <a:ext cx="5783609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Теоретико-проектная часть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508002"/>
            <a:ext cx="7805890" cy="1999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Системный анализ нормативных документов (ФГОС, клинические рекомендации)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Моделирование архитектуры платформы (блок-схемы, визуальный дизайн)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781352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Этика исследования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7431586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Синтетические данные, добровольное согласие, соответствие ФЗ № 152 и № 323.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406" y="3857777"/>
            <a:ext cx="7263260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Практико-экспериментальная часть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406" y="4508002"/>
            <a:ext cx="7805890" cy="3459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Прототипирование</a:t>
            </a: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— диалоговый движок на базе LLM (YandexGPT / GigaChat)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Экспертная оценка</a:t>
            </a: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— 10–15 сценариев, шкала Ликерта (порог ≥ 4,0)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Педагогический эксперимент</a:t>
            </a: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— контрольная и экспериментальная группы (20–30 чел.), U-критерий Манна-Уитни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77445" y="579682"/>
            <a:ext cx="1167413" cy="299590"/>
            <a:chOff x="0" y="0"/>
            <a:chExt cx="1556550" cy="399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6512" cy="399542"/>
            </a:xfrm>
            <a:custGeom>
              <a:avLst/>
              <a:gdLst/>
              <a:ahLst/>
              <a:cxnLst/>
              <a:rect r="r" b="b" t="t" l="l"/>
              <a:pathLst>
                <a:path h="399542" w="1556512">
                  <a:moveTo>
                    <a:pt x="0" y="29083"/>
                  </a:moveTo>
                  <a:cubicBezTo>
                    <a:pt x="0" y="12954"/>
                    <a:pt x="12954" y="0"/>
                    <a:pt x="29083" y="0"/>
                  </a:cubicBezTo>
                  <a:lnTo>
                    <a:pt x="1527429" y="0"/>
                  </a:lnTo>
                  <a:cubicBezTo>
                    <a:pt x="1543431" y="0"/>
                    <a:pt x="1556512" y="12954"/>
                    <a:pt x="1556512" y="29083"/>
                  </a:cubicBezTo>
                  <a:lnTo>
                    <a:pt x="1556512" y="370459"/>
                  </a:lnTo>
                  <a:cubicBezTo>
                    <a:pt x="1556512" y="386461"/>
                    <a:pt x="1543558" y="399542"/>
                    <a:pt x="1527429" y="399542"/>
                  </a:cubicBezTo>
                  <a:lnTo>
                    <a:pt x="29083" y="399542"/>
                  </a:lnTo>
                  <a:cubicBezTo>
                    <a:pt x="12954" y="399415"/>
                    <a:pt x="0" y="386461"/>
                    <a:pt x="0" y="370459"/>
                  </a:cubicBezTo>
                  <a:close/>
                </a:path>
              </a:pathLst>
            </a:custGeom>
            <a:solidFill>
              <a:srgbClr val="110745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877445" y="2603725"/>
            <a:ext cx="12533109" cy="6186214"/>
          </a:xfrm>
          <a:custGeom>
            <a:avLst/>
            <a:gdLst/>
            <a:ahLst/>
            <a:cxnLst/>
            <a:rect r="r" b="b" t="t" l="l"/>
            <a:pathLst>
              <a:path h="6186214" w="12533109">
                <a:moveTo>
                  <a:pt x="0" y="0"/>
                </a:moveTo>
                <a:lnTo>
                  <a:pt x="12533110" y="0"/>
                </a:lnTo>
                <a:lnTo>
                  <a:pt x="12533110" y="6186214"/>
                </a:lnTo>
                <a:lnTo>
                  <a:pt x="0" y="61862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86383" y="615105"/>
            <a:ext cx="1863928" cy="209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8"/>
              </a:lnSpc>
            </a:pPr>
            <a:r>
              <a:rPr lang="en-US" sz="11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ПЛАТФОРМА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77445" y="906656"/>
            <a:ext cx="9583493" cy="58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5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«Клиникум» — архитектура платформы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7445" y="1648568"/>
            <a:ext cx="12533109" cy="49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399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Ядро платформы</a:t>
            </a:r>
            <a:r>
              <a:rPr lang="en-US" sz="1399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— диалоговый движок на основе генеративной LLM, выполняющий роль виртуального пациента и обеспечивающий обратную связь.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77445" y="9449838"/>
            <a:ext cx="13447509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399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Интерфейс — веб-приложение с чатом и вкладками: «Осмотр», «Анализы», «Результаты», «Диагноз».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877445" y="579682"/>
            <a:ext cx="1167413" cy="299590"/>
            <a:chOff x="0" y="0"/>
            <a:chExt cx="1556550" cy="3994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56512" cy="399542"/>
            </a:xfrm>
            <a:custGeom>
              <a:avLst/>
              <a:gdLst/>
              <a:ahLst/>
              <a:cxnLst/>
              <a:rect r="r" b="b" t="t" l="l"/>
              <a:pathLst>
                <a:path h="399542" w="1556512">
                  <a:moveTo>
                    <a:pt x="0" y="29083"/>
                  </a:moveTo>
                  <a:cubicBezTo>
                    <a:pt x="0" y="12954"/>
                    <a:pt x="12954" y="0"/>
                    <a:pt x="29083" y="0"/>
                  </a:cubicBezTo>
                  <a:lnTo>
                    <a:pt x="1527429" y="0"/>
                  </a:lnTo>
                  <a:cubicBezTo>
                    <a:pt x="1543431" y="0"/>
                    <a:pt x="1556512" y="12954"/>
                    <a:pt x="1556512" y="29083"/>
                  </a:cubicBezTo>
                  <a:lnTo>
                    <a:pt x="1556512" y="370459"/>
                  </a:lnTo>
                  <a:cubicBezTo>
                    <a:pt x="1556512" y="386461"/>
                    <a:pt x="1543558" y="399542"/>
                    <a:pt x="1527429" y="399542"/>
                  </a:cubicBezTo>
                  <a:lnTo>
                    <a:pt x="29083" y="399542"/>
                  </a:lnTo>
                  <a:cubicBezTo>
                    <a:pt x="12954" y="399415"/>
                    <a:pt x="0" y="386461"/>
                    <a:pt x="0" y="370459"/>
                  </a:cubicBezTo>
                  <a:close/>
                </a:path>
              </a:pathLst>
            </a:custGeom>
            <a:solidFill>
              <a:srgbClr val="110745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144000" y="2172738"/>
            <a:ext cx="7300984" cy="7103227"/>
          </a:xfrm>
          <a:custGeom>
            <a:avLst/>
            <a:gdLst/>
            <a:ahLst/>
            <a:cxnLst/>
            <a:rect r="r" b="b" t="t" l="l"/>
            <a:pathLst>
              <a:path h="7103227" w="7300984">
                <a:moveTo>
                  <a:pt x="0" y="0"/>
                </a:moveTo>
                <a:lnTo>
                  <a:pt x="7300984" y="0"/>
                </a:lnTo>
                <a:lnTo>
                  <a:pt x="7300984" y="7103227"/>
                </a:lnTo>
                <a:lnTo>
                  <a:pt x="0" y="7103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14612" y="2163213"/>
            <a:ext cx="6829388" cy="7102136"/>
          </a:xfrm>
          <a:custGeom>
            <a:avLst/>
            <a:gdLst/>
            <a:ahLst/>
            <a:cxnLst/>
            <a:rect r="r" b="b" t="t" l="l"/>
            <a:pathLst>
              <a:path h="7102136" w="6829388">
                <a:moveTo>
                  <a:pt x="0" y="0"/>
                </a:moveTo>
                <a:lnTo>
                  <a:pt x="6829388" y="0"/>
                </a:lnTo>
                <a:lnTo>
                  <a:pt x="6829388" y="7102136"/>
                </a:lnTo>
                <a:lnTo>
                  <a:pt x="0" y="71021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86383" y="615105"/>
            <a:ext cx="1863928" cy="209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8"/>
              </a:lnSpc>
            </a:pPr>
            <a:r>
              <a:rPr lang="en-US" sz="11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ПЛАТФОРМА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77445" y="906656"/>
            <a:ext cx="9583493" cy="58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8"/>
              </a:lnSpc>
            </a:pPr>
            <a:r>
              <a:rPr lang="en-US" sz="35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«Клиникум» — архитектура платформы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77445" y="1648568"/>
            <a:ext cx="12533109" cy="49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399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Ядро платформы</a:t>
            </a:r>
            <a:r>
              <a:rPr lang="en-US" sz="1399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— диалоговый движок на основе генеративной LLM, выполняющий роль виртуального пациента и обеспечивающий обратную связь.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77445" y="9449838"/>
            <a:ext cx="13447509" cy="257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1"/>
              </a:lnSpc>
            </a:pPr>
            <a:r>
              <a:rPr lang="en-US" sz="1399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Интерфейс — веб-приложение с чатом и вкладками: «Осмотр», «Анализы», «Результаты», «Диагноз».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855907"/>
            <a:ext cx="2013947" cy="561384"/>
            <a:chOff x="0" y="0"/>
            <a:chExt cx="2685263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85161" cy="748412"/>
            </a:xfrm>
            <a:custGeom>
              <a:avLst/>
              <a:gdLst/>
              <a:ahLst/>
              <a:cxnLst/>
              <a:rect r="r" b="b" t="t" l="l"/>
              <a:pathLst>
                <a:path h="748412" w="2685161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2639060" y="0"/>
                  </a:lnTo>
                  <a:cubicBezTo>
                    <a:pt x="2664587" y="0"/>
                    <a:pt x="2685161" y="20701"/>
                    <a:pt x="2685161" y="46101"/>
                  </a:cubicBezTo>
                  <a:lnTo>
                    <a:pt x="2685161" y="702310"/>
                  </a:lnTo>
                  <a:cubicBezTo>
                    <a:pt x="2685161" y="727837"/>
                    <a:pt x="2664460" y="748411"/>
                    <a:pt x="2639060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04" r="-3" b="-19918"/>
              </a:stretch>
            </a:blipFill>
            <a:ln w="9526" cap="sq">
              <a:solidFill>
                <a:srgbClr val="AC9EF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888502"/>
            <a:ext cx="2559548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ФУНКЦИОНАЛ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506884"/>
            <a:ext cx="13023799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Основной функционал платформы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2238" y="2837107"/>
            <a:ext cx="8009934" cy="3655962"/>
            <a:chOff x="0" y="0"/>
            <a:chExt cx="10679913" cy="48746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79811" cy="4874514"/>
            </a:xfrm>
            <a:custGeom>
              <a:avLst/>
              <a:gdLst/>
              <a:ahLst/>
              <a:cxnLst/>
              <a:rect r="r" b="b" t="t" l="l"/>
              <a:pathLst>
                <a:path h="4874514" w="10679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4817872"/>
                  </a:lnTo>
                  <a:cubicBezTo>
                    <a:pt x="10679811" y="4849241"/>
                    <a:pt x="10654411" y="4874514"/>
                    <a:pt x="10623169" y="4874514"/>
                  </a:cubicBezTo>
                  <a:lnTo>
                    <a:pt x="56642" y="4874514"/>
                  </a:lnTo>
                  <a:cubicBezTo>
                    <a:pt x="25273" y="4874514"/>
                    <a:pt x="0" y="4849114"/>
                    <a:pt x="0" y="4817872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75750" y="3111103"/>
            <a:ext cx="3854796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📚</a:t>
            </a:r>
            <a:r>
              <a:rPr lang="en-US" sz="27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 Библиотека кейсов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0" y="3657448"/>
            <a:ext cx="7442892" cy="255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Типовые заготовленные сценарии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Неуточнённые кейсы (по симптоматике / области медицины)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Генератор случайных кейсов — уникальный пациент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85684" y="2837107"/>
            <a:ext cx="8010077" cy="3655962"/>
            <a:chOff x="0" y="0"/>
            <a:chExt cx="10680103" cy="48746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80065" cy="4874514"/>
            </a:xfrm>
            <a:custGeom>
              <a:avLst/>
              <a:gdLst/>
              <a:ahLst/>
              <a:cxnLst/>
              <a:rect r="r" b="b" t="t" l="l"/>
              <a:pathLst>
                <a:path h="4874514" w="10680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4817872"/>
                  </a:lnTo>
                  <a:cubicBezTo>
                    <a:pt x="10680065" y="4849241"/>
                    <a:pt x="10654665" y="4874514"/>
                    <a:pt x="10623423" y="4874514"/>
                  </a:cubicBezTo>
                  <a:lnTo>
                    <a:pt x="56642" y="4874514"/>
                  </a:lnTo>
                  <a:cubicBezTo>
                    <a:pt x="25273" y="4874514"/>
                    <a:pt x="0" y="4849114"/>
                    <a:pt x="0" y="4817872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569206" y="3111103"/>
            <a:ext cx="5534177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📋</a:t>
            </a:r>
            <a:r>
              <a:rPr lang="en-US" sz="27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 Экзаменационные сценарии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69206" y="3657448"/>
            <a:ext cx="7443045" cy="109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Доступ по расписанию или приглашению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Фиксированное время и автоматическая оценка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92238" y="6776590"/>
            <a:ext cx="8009934" cy="2649588"/>
            <a:chOff x="0" y="0"/>
            <a:chExt cx="10679913" cy="35327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679811" cy="3532759"/>
            </a:xfrm>
            <a:custGeom>
              <a:avLst/>
              <a:gdLst/>
              <a:ahLst/>
              <a:cxnLst/>
              <a:rect r="r" b="b" t="t" l="l"/>
              <a:pathLst>
                <a:path h="3532759" w="10679811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169" y="0"/>
                  </a:lnTo>
                  <a:cubicBezTo>
                    <a:pt x="10654537" y="0"/>
                    <a:pt x="10679811" y="25400"/>
                    <a:pt x="10679811" y="56642"/>
                  </a:cubicBezTo>
                  <a:lnTo>
                    <a:pt x="10679811" y="3476117"/>
                  </a:lnTo>
                  <a:cubicBezTo>
                    <a:pt x="10679811" y="3507486"/>
                    <a:pt x="10654411" y="3532759"/>
                    <a:pt x="10623169" y="3532759"/>
                  </a:cubicBezTo>
                  <a:lnTo>
                    <a:pt x="56642" y="3532759"/>
                  </a:lnTo>
                  <a:cubicBezTo>
                    <a:pt x="25273" y="3532759"/>
                    <a:pt x="0" y="3507359"/>
                    <a:pt x="0" y="347611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75750" y="7050586"/>
            <a:ext cx="3544043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📖</a:t>
            </a:r>
            <a:r>
              <a:rPr lang="en-US" sz="27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 База знаний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5750" y="7596930"/>
            <a:ext cx="7442892" cy="154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Клинические рекомендации, фармакология, коммуникативные техники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Привязка к тегам, рекомендации после кейса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85684" y="6776590"/>
            <a:ext cx="8010077" cy="2649588"/>
            <a:chOff x="0" y="0"/>
            <a:chExt cx="10680103" cy="35327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80065" cy="3532759"/>
            </a:xfrm>
            <a:custGeom>
              <a:avLst/>
              <a:gdLst/>
              <a:ahLst/>
              <a:cxnLst/>
              <a:rect r="r" b="b" t="t" l="l"/>
              <a:pathLst>
                <a:path h="3532759" w="1068006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623423" y="0"/>
                  </a:lnTo>
                  <a:cubicBezTo>
                    <a:pt x="10654792" y="0"/>
                    <a:pt x="10680065" y="25400"/>
                    <a:pt x="10680065" y="56642"/>
                  </a:cubicBezTo>
                  <a:lnTo>
                    <a:pt x="10680065" y="3476117"/>
                  </a:lnTo>
                  <a:cubicBezTo>
                    <a:pt x="10680065" y="3507486"/>
                    <a:pt x="10654665" y="3532759"/>
                    <a:pt x="10623423" y="3532759"/>
                  </a:cubicBezTo>
                  <a:lnTo>
                    <a:pt x="56642" y="3532759"/>
                  </a:lnTo>
                  <a:cubicBezTo>
                    <a:pt x="25273" y="3532759"/>
                    <a:pt x="0" y="3507359"/>
                    <a:pt x="0" y="3476117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569206" y="7050586"/>
            <a:ext cx="3952132" cy="46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📊</a:t>
            </a:r>
            <a:r>
              <a:rPr lang="en-US" sz="2700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 История и прогресс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69206" y="7596930"/>
            <a:ext cx="7443045" cy="1545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Архив всех сессий с логами диалогов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Визуальная панель с динамикой компетенций: эмпатия, сбор анамнеза, клиническое мышление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6" y="1632795"/>
            <a:ext cx="1963341" cy="561384"/>
            <a:chOff x="0" y="0"/>
            <a:chExt cx="2617788" cy="7485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17724" cy="748412"/>
            </a:xfrm>
            <a:custGeom>
              <a:avLst/>
              <a:gdLst/>
              <a:ahLst/>
              <a:cxnLst/>
              <a:rect r="r" b="b" t="t" l="l"/>
              <a:pathLst>
                <a:path h="748412" w="2617724">
                  <a:moveTo>
                    <a:pt x="0" y="46101"/>
                  </a:moveTo>
                  <a:cubicBezTo>
                    <a:pt x="0" y="20701"/>
                    <a:pt x="20701" y="0"/>
                    <a:pt x="46101" y="0"/>
                  </a:cubicBezTo>
                  <a:lnTo>
                    <a:pt x="2571623" y="0"/>
                  </a:lnTo>
                  <a:cubicBezTo>
                    <a:pt x="2597150" y="0"/>
                    <a:pt x="2617724" y="20701"/>
                    <a:pt x="2617724" y="46101"/>
                  </a:cubicBezTo>
                  <a:lnTo>
                    <a:pt x="2617724" y="702310"/>
                  </a:lnTo>
                  <a:cubicBezTo>
                    <a:pt x="2617724" y="727837"/>
                    <a:pt x="2597023" y="748411"/>
                    <a:pt x="2571623" y="748411"/>
                  </a:cubicBezTo>
                  <a:lnTo>
                    <a:pt x="46101" y="748411"/>
                  </a:lnTo>
                  <a:cubicBezTo>
                    <a:pt x="20701" y="748538"/>
                    <a:pt x="0" y="727837"/>
                    <a:pt x="0" y="70231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47" r="-2" b="-18161"/>
              </a:stretch>
            </a:blipFill>
            <a:ln w="9526" cap="sq">
              <a:solidFill>
                <a:srgbClr val="AC9EF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171870" y="1665389"/>
            <a:ext cx="2508942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ТЕХНОЛОГИИ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283771"/>
            <a:ext cx="8590064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Технологический стек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887981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Backend &amp; Frontend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538215"/>
            <a:ext cx="7805890" cy="1644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Python 3.11+ / FastAPI / React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PostgreSQL (JSONB для логов сессий)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Git / GitLab Russian — контроль версий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457055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Инфраструктура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7107288"/>
            <a:ext cx="87202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Яндекс.Облако / VK Cloud — соответствие 152-ФЗ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95209" y="3613995"/>
            <a:ext cx="8214274" cy="5035448"/>
            <a:chOff x="0" y="0"/>
            <a:chExt cx="10952366" cy="67139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52352" cy="6713982"/>
            </a:xfrm>
            <a:custGeom>
              <a:avLst/>
              <a:gdLst/>
              <a:ahLst/>
              <a:cxnLst/>
              <a:rect r="r" b="b" t="t" l="l"/>
              <a:pathLst>
                <a:path h="6713982" w="1095235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895584" y="0"/>
                  </a:lnTo>
                  <a:cubicBezTo>
                    <a:pt x="10926952" y="0"/>
                    <a:pt x="10952352" y="25400"/>
                    <a:pt x="10952352" y="56769"/>
                  </a:cubicBezTo>
                  <a:lnTo>
                    <a:pt x="10952352" y="6657213"/>
                  </a:lnTo>
                  <a:cubicBezTo>
                    <a:pt x="10952352" y="6688582"/>
                    <a:pt x="10926952" y="6713982"/>
                    <a:pt x="10895584" y="6713982"/>
                  </a:cubicBezTo>
                  <a:lnTo>
                    <a:pt x="56769" y="6713982"/>
                  </a:lnTo>
                  <a:cubicBezTo>
                    <a:pt x="25400" y="6713982"/>
                    <a:pt x="0" y="6688582"/>
                    <a:pt x="0" y="6657213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578731" y="3887981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ML &amp; AI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78731" y="4538215"/>
            <a:ext cx="7647232" cy="4012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LLM: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YandexGPT / GigaChat (приоритет — русский язык)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Перспектива: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fine-tuned собственная модель (снижение галлюцинаций)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CatBoost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(Яндекс) — классификация ошибок в аналитике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GAN / диффузионные модели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— генерация ЭКГ и медицинских изображений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4455" y="796976"/>
            <a:ext cx="1667027" cy="495900"/>
            <a:chOff x="0" y="0"/>
            <a:chExt cx="2222703" cy="66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22627" cy="661162"/>
            </a:xfrm>
            <a:custGeom>
              <a:avLst/>
              <a:gdLst/>
              <a:ahLst/>
              <a:cxnLst/>
              <a:rect r="r" b="b" t="t" l="l"/>
              <a:pathLst>
                <a:path h="661162" w="2222627">
                  <a:moveTo>
                    <a:pt x="0" y="41910"/>
                  </a:moveTo>
                  <a:cubicBezTo>
                    <a:pt x="0" y="18796"/>
                    <a:pt x="18796" y="0"/>
                    <a:pt x="41910" y="0"/>
                  </a:cubicBezTo>
                  <a:lnTo>
                    <a:pt x="2180717" y="0"/>
                  </a:lnTo>
                  <a:cubicBezTo>
                    <a:pt x="2203831" y="0"/>
                    <a:pt x="2222627" y="18796"/>
                    <a:pt x="2222627" y="41910"/>
                  </a:cubicBezTo>
                  <a:lnTo>
                    <a:pt x="2222627" y="619252"/>
                  </a:lnTo>
                  <a:cubicBezTo>
                    <a:pt x="2222627" y="642366"/>
                    <a:pt x="2203831" y="661162"/>
                    <a:pt x="2180717" y="661162"/>
                  </a:cubicBezTo>
                  <a:lnTo>
                    <a:pt x="41910" y="661162"/>
                  </a:lnTo>
                  <a:cubicBezTo>
                    <a:pt x="18796" y="661162"/>
                    <a:pt x="0" y="642366"/>
                    <a:pt x="0" y="61925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02" r="-3" b="-15507"/>
              </a:stretch>
            </a:blipFill>
            <a:ln w="9526" cap="sq">
              <a:solidFill>
                <a:srgbClr val="AC9EF5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62780" y="831056"/>
            <a:ext cx="2244776" cy="37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8"/>
              </a:lnSpc>
            </a:pPr>
            <a:r>
              <a:rPr lang="en-US" sz="1600">
                <a:solidFill>
                  <a:srgbClr val="AC9EF5"/>
                </a:solidFill>
                <a:latin typeface="Inter"/>
                <a:ea typeface="Inter"/>
                <a:cs typeface="Inter"/>
                <a:sym typeface="Inter"/>
              </a:rPr>
              <a:t>ВАЛИДАЦИЯ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99217" y="1352550"/>
            <a:ext cx="12650838" cy="83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План экспериментальной валидации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99217" y="5277593"/>
            <a:ext cx="16489556" cy="28575"/>
            <a:chOff x="0" y="0"/>
            <a:chExt cx="21986075" cy="38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86112" cy="38100"/>
            </a:xfrm>
            <a:custGeom>
              <a:avLst/>
              <a:gdLst/>
              <a:ahLst/>
              <a:cxnLst/>
              <a:rect r="r" b="b" t="t" l="l"/>
              <a:pathLst>
                <a:path h="38100" w="21986112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967062" y="0"/>
                  </a:lnTo>
                  <a:cubicBezTo>
                    <a:pt x="21977603" y="0"/>
                    <a:pt x="21986112" y="8509"/>
                    <a:pt x="21986112" y="19050"/>
                  </a:cubicBezTo>
                  <a:cubicBezTo>
                    <a:pt x="21986112" y="29591"/>
                    <a:pt x="21977603" y="38100"/>
                    <a:pt x="2196706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4934550" y="4506811"/>
            <a:ext cx="28575" cy="770782"/>
            <a:chOff x="0" y="0"/>
            <a:chExt cx="38100" cy="10277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" cy="1027684"/>
            </a:xfrm>
            <a:custGeom>
              <a:avLst/>
              <a:gdLst/>
              <a:ahLst/>
              <a:cxnLst/>
              <a:rect r="r" b="b" t="t" l="l"/>
              <a:pathLst>
                <a:path h="102768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8634"/>
                  </a:lnTo>
                  <a:cubicBezTo>
                    <a:pt x="38100" y="1019175"/>
                    <a:pt x="29591" y="1027684"/>
                    <a:pt x="19050" y="1027684"/>
                  </a:cubicBezTo>
                  <a:cubicBezTo>
                    <a:pt x="8509" y="1027684"/>
                    <a:pt x="0" y="1019175"/>
                    <a:pt x="0" y="1008634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659811" y="4988566"/>
            <a:ext cx="578044" cy="578044"/>
            <a:chOff x="0" y="0"/>
            <a:chExt cx="770725" cy="7707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0763" cy="770763"/>
            </a:xfrm>
            <a:custGeom>
              <a:avLst/>
              <a:gdLst/>
              <a:ahLst/>
              <a:cxnLst/>
              <a:rect r="r" b="b" t="t" l="l"/>
              <a:pathLst>
                <a:path h="770763" w="770763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719328" y="0"/>
                  </a:lnTo>
                  <a:cubicBezTo>
                    <a:pt x="747649" y="0"/>
                    <a:pt x="770763" y="22987"/>
                    <a:pt x="770763" y="51435"/>
                  </a:cubicBezTo>
                  <a:lnTo>
                    <a:pt x="770763" y="719328"/>
                  </a:lnTo>
                  <a:cubicBezTo>
                    <a:pt x="770763" y="747649"/>
                    <a:pt x="747776" y="770763"/>
                    <a:pt x="719328" y="770763"/>
                  </a:cubicBezTo>
                  <a:lnTo>
                    <a:pt x="51435" y="770763"/>
                  </a:lnTo>
                  <a:cubicBezTo>
                    <a:pt x="22987" y="770763"/>
                    <a:pt x="0" y="747776"/>
                    <a:pt x="0" y="719328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756175" y="5036715"/>
            <a:ext cx="385315" cy="481755"/>
            <a:chOff x="0" y="0"/>
            <a:chExt cx="513753" cy="64234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3755" cy="642341"/>
            </a:xfrm>
            <a:custGeom>
              <a:avLst/>
              <a:gdLst/>
              <a:ahLst/>
              <a:cxnLst/>
              <a:rect r="r" b="b" t="t" l="l"/>
              <a:pathLst>
                <a:path h="642341" w="513755">
                  <a:moveTo>
                    <a:pt x="0" y="0"/>
                  </a:moveTo>
                  <a:lnTo>
                    <a:pt x="513755" y="0"/>
                  </a:lnTo>
                  <a:lnTo>
                    <a:pt x="513755" y="642341"/>
                  </a:lnTo>
                  <a:lnTo>
                    <a:pt x="0" y="642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6" t="0" r="-110416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13753" cy="651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D6D9D7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490340" y="2514152"/>
            <a:ext cx="4916986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Этап 1 — Подготовка (2 недели)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56097" y="3007519"/>
            <a:ext cx="7585472" cy="124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Формирование синтетических кейсов (10–15) на основе клинических рекомендаций. Входное тестирование обеих групп по шкале SEGUE Framework.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29560" y="5277593"/>
            <a:ext cx="28575" cy="770782"/>
            <a:chOff x="0" y="0"/>
            <a:chExt cx="38100" cy="10277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8100" cy="1027684"/>
            </a:xfrm>
            <a:custGeom>
              <a:avLst/>
              <a:gdLst/>
              <a:ahLst/>
              <a:cxnLst/>
              <a:rect r="r" b="b" t="t" l="l"/>
              <a:pathLst>
                <a:path h="102768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8634"/>
                  </a:lnTo>
                  <a:cubicBezTo>
                    <a:pt x="38100" y="1019175"/>
                    <a:pt x="29591" y="1027684"/>
                    <a:pt x="19050" y="1027684"/>
                  </a:cubicBezTo>
                  <a:cubicBezTo>
                    <a:pt x="8509" y="1027684"/>
                    <a:pt x="0" y="1019175"/>
                    <a:pt x="0" y="1008634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854831" y="4988566"/>
            <a:ext cx="578044" cy="578044"/>
            <a:chOff x="0" y="0"/>
            <a:chExt cx="770725" cy="77072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70763" cy="770763"/>
            </a:xfrm>
            <a:custGeom>
              <a:avLst/>
              <a:gdLst/>
              <a:ahLst/>
              <a:cxnLst/>
              <a:rect r="r" b="b" t="t" l="l"/>
              <a:pathLst>
                <a:path h="770763" w="770763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719328" y="0"/>
                  </a:lnTo>
                  <a:cubicBezTo>
                    <a:pt x="747649" y="0"/>
                    <a:pt x="770763" y="22987"/>
                    <a:pt x="770763" y="51435"/>
                  </a:cubicBezTo>
                  <a:lnTo>
                    <a:pt x="770763" y="719328"/>
                  </a:lnTo>
                  <a:cubicBezTo>
                    <a:pt x="770763" y="747649"/>
                    <a:pt x="747776" y="770763"/>
                    <a:pt x="719328" y="770763"/>
                  </a:cubicBezTo>
                  <a:lnTo>
                    <a:pt x="51435" y="770763"/>
                  </a:lnTo>
                  <a:cubicBezTo>
                    <a:pt x="22987" y="770763"/>
                    <a:pt x="0" y="747776"/>
                    <a:pt x="0" y="719328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951195" y="5036715"/>
            <a:ext cx="385315" cy="481755"/>
            <a:chOff x="0" y="0"/>
            <a:chExt cx="513753" cy="64234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3755" cy="642341"/>
            </a:xfrm>
            <a:custGeom>
              <a:avLst/>
              <a:gdLst/>
              <a:ahLst/>
              <a:cxnLst/>
              <a:rect r="r" b="b" t="t" l="l"/>
              <a:pathLst>
                <a:path h="642341" w="513755">
                  <a:moveTo>
                    <a:pt x="0" y="0"/>
                  </a:moveTo>
                  <a:lnTo>
                    <a:pt x="513755" y="0"/>
                  </a:lnTo>
                  <a:lnTo>
                    <a:pt x="513755" y="642341"/>
                  </a:lnTo>
                  <a:lnTo>
                    <a:pt x="0" y="642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6" t="0" r="-110416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13753" cy="651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D6D9D7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516138" y="6286348"/>
            <a:ext cx="5255419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Этап 2 — Эксперимент (4 недели)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51116" y="6779714"/>
            <a:ext cx="7585624" cy="124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Экспериментальная группа: работа на платформе «Клиникум». Контрольная группа: традиционное обучение без платформы.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324732" y="4506811"/>
            <a:ext cx="28575" cy="770782"/>
            <a:chOff x="0" y="0"/>
            <a:chExt cx="38100" cy="102770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100" cy="1027684"/>
            </a:xfrm>
            <a:custGeom>
              <a:avLst/>
              <a:gdLst/>
              <a:ahLst/>
              <a:cxnLst/>
              <a:rect r="r" b="b" t="t" l="l"/>
              <a:pathLst>
                <a:path h="1027684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008634"/>
                  </a:lnTo>
                  <a:cubicBezTo>
                    <a:pt x="38100" y="1019175"/>
                    <a:pt x="29591" y="1027684"/>
                    <a:pt x="19050" y="1027684"/>
                  </a:cubicBezTo>
                  <a:cubicBezTo>
                    <a:pt x="8509" y="1027684"/>
                    <a:pt x="0" y="1019175"/>
                    <a:pt x="0" y="1008634"/>
                  </a:cubicBezTo>
                  <a:close/>
                </a:path>
              </a:pathLst>
            </a:custGeom>
            <a:solidFill>
              <a:srgbClr val="65696B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3049993" y="4988566"/>
            <a:ext cx="578044" cy="578044"/>
            <a:chOff x="0" y="0"/>
            <a:chExt cx="770725" cy="77072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70763" cy="770763"/>
            </a:xfrm>
            <a:custGeom>
              <a:avLst/>
              <a:gdLst/>
              <a:ahLst/>
              <a:cxnLst/>
              <a:rect r="r" b="b" t="t" l="l"/>
              <a:pathLst>
                <a:path h="770763" w="770763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719328" y="0"/>
                  </a:lnTo>
                  <a:cubicBezTo>
                    <a:pt x="747649" y="0"/>
                    <a:pt x="770763" y="22987"/>
                    <a:pt x="770763" y="51435"/>
                  </a:cubicBezTo>
                  <a:lnTo>
                    <a:pt x="770763" y="719328"/>
                  </a:lnTo>
                  <a:cubicBezTo>
                    <a:pt x="770763" y="747649"/>
                    <a:pt x="747776" y="770763"/>
                    <a:pt x="719328" y="770763"/>
                  </a:cubicBezTo>
                  <a:lnTo>
                    <a:pt x="51435" y="770763"/>
                  </a:lnTo>
                  <a:cubicBezTo>
                    <a:pt x="22987" y="770763"/>
                    <a:pt x="0" y="747776"/>
                    <a:pt x="0" y="719328"/>
                  </a:cubicBezTo>
                  <a:close/>
                </a:path>
              </a:pathLst>
            </a:custGeom>
            <a:solidFill>
              <a:srgbClr val="4C505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146357" y="5036715"/>
            <a:ext cx="385315" cy="481755"/>
            <a:chOff x="0" y="0"/>
            <a:chExt cx="513753" cy="64234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3755" cy="642341"/>
            </a:xfrm>
            <a:custGeom>
              <a:avLst/>
              <a:gdLst/>
              <a:ahLst/>
              <a:cxnLst/>
              <a:rect r="r" b="b" t="t" l="l"/>
              <a:pathLst>
                <a:path h="642341" w="513755">
                  <a:moveTo>
                    <a:pt x="0" y="0"/>
                  </a:moveTo>
                  <a:lnTo>
                    <a:pt x="513755" y="0"/>
                  </a:lnTo>
                  <a:lnTo>
                    <a:pt x="513755" y="642341"/>
                  </a:lnTo>
                  <a:lnTo>
                    <a:pt x="0" y="6423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16" t="0" r="-110416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13753" cy="651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D6D9D7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741523" y="2514152"/>
            <a:ext cx="5194992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19"/>
              </a:lnSpc>
            </a:pPr>
            <a:r>
              <a:rPr lang="en-US" sz="2499">
                <a:solidFill>
                  <a:srgbClr val="D6D9D7"/>
                </a:solidFill>
                <a:latin typeface="DM Sans"/>
                <a:ea typeface="DM Sans"/>
                <a:cs typeface="DM Sans"/>
                <a:sym typeface="DM Sans"/>
              </a:rPr>
              <a:t>Этап 3 — Итоговое тестирование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46279" y="3007519"/>
            <a:ext cx="7585624" cy="124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8"/>
              </a:lnSpc>
            </a:pPr>
            <a:r>
              <a:rPr lang="en-US" sz="20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Повторная оценка по SEGUE Framework. U-критерий Манна-Уитни. Экспертная оценка реалистичности диалогов (шкала Ликерта, порог 4,0).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99217" y="8283921"/>
            <a:ext cx="16489556" cy="939251"/>
            <a:chOff x="0" y="0"/>
            <a:chExt cx="21986075" cy="125233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986114" cy="1252347"/>
            </a:xfrm>
            <a:custGeom>
              <a:avLst/>
              <a:gdLst/>
              <a:ahLst/>
              <a:cxnLst/>
              <a:rect r="r" b="b" t="t" l="l"/>
              <a:pathLst>
                <a:path h="1252347" w="21986114">
                  <a:moveTo>
                    <a:pt x="0" y="51435"/>
                  </a:moveTo>
                  <a:cubicBezTo>
                    <a:pt x="0" y="22987"/>
                    <a:pt x="22987" y="0"/>
                    <a:pt x="51435" y="0"/>
                  </a:cubicBezTo>
                  <a:lnTo>
                    <a:pt x="21934678" y="0"/>
                  </a:lnTo>
                  <a:cubicBezTo>
                    <a:pt x="21963126" y="0"/>
                    <a:pt x="21986114" y="22987"/>
                    <a:pt x="21986114" y="51435"/>
                  </a:cubicBezTo>
                  <a:lnTo>
                    <a:pt x="21986114" y="1200912"/>
                  </a:lnTo>
                  <a:cubicBezTo>
                    <a:pt x="21986114" y="1229360"/>
                    <a:pt x="21963126" y="1252347"/>
                    <a:pt x="21934678" y="1252347"/>
                  </a:cubicBezTo>
                  <a:lnTo>
                    <a:pt x="51435" y="1252347"/>
                  </a:lnTo>
                  <a:cubicBezTo>
                    <a:pt x="22987" y="1252347"/>
                    <a:pt x="0" y="1229360"/>
                    <a:pt x="0" y="1200912"/>
                  </a:cubicBezTo>
                  <a:close/>
                </a:path>
              </a:pathLst>
            </a:custGeom>
            <a:solidFill>
              <a:srgbClr val="183A13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56097" y="8646766"/>
            <a:ext cx="321173" cy="256880"/>
            <a:chOff x="0" y="0"/>
            <a:chExt cx="428231" cy="342506"/>
          </a:xfrm>
        </p:grpSpPr>
        <p:sp>
          <p:nvSpPr>
            <p:cNvPr name="Freeform 42" id="42" descr="preencoded.png"/>
            <p:cNvSpPr/>
            <p:nvPr/>
          </p:nvSpPr>
          <p:spPr>
            <a:xfrm flipH="false" flipV="false" rot="0">
              <a:off x="0" y="0"/>
              <a:ext cx="428244" cy="342519"/>
            </a:xfrm>
            <a:custGeom>
              <a:avLst/>
              <a:gdLst/>
              <a:ahLst/>
              <a:cxnLst/>
              <a:rect r="r" b="b" t="t" l="l"/>
              <a:pathLst>
                <a:path h="342519" w="428244">
                  <a:moveTo>
                    <a:pt x="0" y="0"/>
                  </a:moveTo>
                  <a:lnTo>
                    <a:pt x="428244" y="0"/>
                  </a:lnTo>
                  <a:lnTo>
                    <a:pt x="428244" y="342519"/>
                  </a:lnTo>
                  <a:lnTo>
                    <a:pt x="0" y="3425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58" t="0" r="-355" b="3"/>
              </a:stretch>
            </a:blip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734150" y="8490947"/>
            <a:ext cx="16312163" cy="458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000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Критерий успеха:</a:t>
            </a:r>
            <a:r>
              <a:rPr lang="en-US" sz="2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статистически значимое различие (p &lt; 0,05) в пользу экспериментальной группы.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966635"/>
            <a:ext cx="1958873" cy="532800"/>
            <a:chOff x="0" y="0"/>
            <a:chExt cx="2611831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11755" cy="710438"/>
            </a:xfrm>
            <a:custGeom>
              <a:avLst/>
              <a:gdLst/>
              <a:ahLst/>
              <a:cxnLst/>
              <a:rect r="r" b="b" t="t" l="l"/>
              <a:pathLst>
                <a:path h="710438" w="2611755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2566416" y="0"/>
                  </a:lnTo>
                  <a:cubicBezTo>
                    <a:pt x="2591435" y="0"/>
                    <a:pt x="2611755" y="20320"/>
                    <a:pt x="2611755" y="45339"/>
                  </a:cubicBezTo>
                  <a:lnTo>
                    <a:pt x="2611755" y="665099"/>
                  </a:lnTo>
                  <a:cubicBezTo>
                    <a:pt x="2611755" y="690118"/>
                    <a:pt x="2591435" y="710438"/>
                    <a:pt x="2566416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11074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984942"/>
            <a:ext cx="2533050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ЗАКЛЮЧЕНИЕ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1593799"/>
            <a:ext cx="12450213" cy="90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Выводы и перспективы развития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3198019"/>
            <a:ext cx="4458443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Ключевые выводы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3848252"/>
            <a:ext cx="7805890" cy="5372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Подтверждён дефицит инструментов для отработки коммуникации «врач–пациент» в медобразовании РФ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Генеративный ИИ позволяет создавать реалистичного виртуального пациента с динамическим диалогом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Концепция платформы «Клиникум» методологически обоснована и технически реализуема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Отсутствие патентных аналогов подтверждает новизну решения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95209" y="2924023"/>
            <a:ext cx="8214274" cy="6396333"/>
            <a:chOff x="0" y="0"/>
            <a:chExt cx="10952366" cy="852844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52352" cy="8528558"/>
            </a:xfrm>
            <a:custGeom>
              <a:avLst/>
              <a:gdLst/>
              <a:ahLst/>
              <a:cxnLst/>
              <a:rect r="r" b="b" t="t" l="l"/>
              <a:pathLst>
                <a:path h="8528558" w="10952352">
                  <a:moveTo>
                    <a:pt x="0" y="56769"/>
                  </a:moveTo>
                  <a:cubicBezTo>
                    <a:pt x="0" y="25400"/>
                    <a:pt x="25400" y="0"/>
                    <a:pt x="56769" y="0"/>
                  </a:cubicBezTo>
                  <a:lnTo>
                    <a:pt x="10895584" y="0"/>
                  </a:lnTo>
                  <a:cubicBezTo>
                    <a:pt x="10926952" y="0"/>
                    <a:pt x="10952352" y="25400"/>
                    <a:pt x="10952352" y="56769"/>
                  </a:cubicBezTo>
                  <a:lnTo>
                    <a:pt x="10952352" y="8471788"/>
                  </a:lnTo>
                  <a:cubicBezTo>
                    <a:pt x="10952352" y="8503158"/>
                    <a:pt x="10926952" y="8528558"/>
                    <a:pt x="10895584" y="8528558"/>
                  </a:cubicBezTo>
                  <a:lnTo>
                    <a:pt x="56769" y="8528558"/>
                  </a:lnTo>
                  <a:cubicBezTo>
                    <a:pt x="25400" y="8528558"/>
                    <a:pt x="0" y="8503158"/>
                    <a:pt x="0" y="8471788"/>
                  </a:cubicBezTo>
                  <a:close/>
                </a:path>
              </a:pathLst>
            </a:custGeom>
            <a:solidFill>
              <a:srgbClr val="AC9EF5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578731" y="3198019"/>
            <a:ext cx="4918624" cy="452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Перспективы развития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78731" y="3848252"/>
            <a:ext cx="7647232" cy="3005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Fine-tuning</a:t>
            </a: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LLM на медицинских диалогах — снижение галлюцинаций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Генерация синтетических медицинских изображений (рентген, ЭКГ)</a:t>
            </a:r>
          </a:p>
          <a:p>
            <a:pPr algn="l" marL="530860" indent="-265430" lvl="1">
              <a:lnSpc>
                <a:spcPts val="3511"/>
              </a:lnSpc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Пилотное внедрение в учебный процесс: терапия, педиатрия, хирургия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8731" y="7023344"/>
            <a:ext cx="764723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Платформа способна стать значимым инструментом модернизации подготовки врачей в РФ.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31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1811684"/>
            <a:ext cx="5256162" cy="532800"/>
            <a:chOff x="0" y="0"/>
            <a:chExt cx="7008216" cy="7104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08241" cy="710438"/>
            </a:xfrm>
            <a:custGeom>
              <a:avLst/>
              <a:gdLst/>
              <a:ahLst/>
              <a:cxnLst/>
              <a:rect r="r" b="b" t="t" l="l"/>
              <a:pathLst>
                <a:path h="710438" w="7008241">
                  <a:moveTo>
                    <a:pt x="0" y="45339"/>
                  </a:moveTo>
                  <a:cubicBezTo>
                    <a:pt x="0" y="20320"/>
                    <a:pt x="20320" y="0"/>
                    <a:pt x="45339" y="0"/>
                  </a:cubicBezTo>
                  <a:lnTo>
                    <a:pt x="6962902" y="0"/>
                  </a:lnTo>
                  <a:cubicBezTo>
                    <a:pt x="6987921" y="0"/>
                    <a:pt x="7008241" y="20320"/>
                    <a:pt x="7008241" y="45339"/>
                  </a:cubicBezTo>
                  <a:lnTo>
                    <a:pt x="7008241" y="665099"/>
                  </a:lnTo>
                  <a:cubicBezTo>
                    <a:pt x="7008241" y="690118"/>
                    <a:pt x="6987921" y="710438"/>
                    <a:pt x="6962902" y="710438"/>
                  </a:cubicBezTo>
                  <a:lnTo>
                    <a:pt x="45339" y="710438"/>
                  </a:lnTo>
                  <a:cubicBezTo>
                    <a:pt x="20320" y="710438"/>
                    <a:pt x="0" y="690118"/>
                    <a:pt x="0" y="665099"/>
                  </a:cubicBezTo>
                  <a:close/>
                </a:path>
              </a:pathLst>
            </a:custGeom>
            <a:solidFill>
              <a:srgbClr val="110745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62345" y="1829991"/>
            <a:ext cx="5830338" cy="42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17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НИР · СЕЧЕНОВСКИЙ УНИВЕРСИТЕТ · 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2438848"/>
            <a:ext cx="16303523" cy="2676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>
                <a:solidFill>
                  <a:srgbClr val="F7F7F8"/>
                </a:solidFill>
                <a:latin typeface="DM Sans"/>
                <a:ea typeface="DM Sans"/>
                <a:cs typeface="DM Sans"/>
                <a:sym typeface="DM Sans"/>
              </a:rPr>
              <a:t>Разработка прототипа цифровой образовательной платформы на основе генеративного ИИ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455291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Формирование клинико-коммуникативных навыков «врач–пациент» у студентов медицинских вузов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238" y="6384427"/>
            <a:ext cx="16303523" cy="21136"/>
            <a:chOff x="0" y="0"/>
            <a:chExt cx="21738031" cy="281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38082" cy="28194"/>
            </a:xfrm>
            <a:custGeom>
              <a:avLst/>
              <a:gdLst/>
              <a:ahLst/>
              <a:cxnLst/>
              <a:rect r="r" b="b" t="t" l="l"/>
              <a:pathLst>
                <a:path h="28194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28194"/>
                  </a:lnTo>
                  <a:lnTo>
                    <a:pt x="0" y="28194"/>
                  </a:lnTo>
                  <a:close/>
                </a:path>
              </a:pathLst>
            </a:custGeom>
            <a:solidFill>
              <a:srgbClr val="D6D9D7">
                <a:alpha val="24706"/>
              </a:srgbClr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238" y="6709620"/>
            <a:ext cx="16303523" cy="851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Исполнитель:</a:t>
            </a: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Солодовников Марк Эдуардович, гр. 636-02 · ИСиТ</a:t>
            </a:r>
          </a:p>
          <a:p>
            <a:pPr algn="l">
              <a:lnSpc>
                <a:spcPts val="3511"/>
              </a:lnSpc>
            </a:pPr>
            <a:r>
              <a:rPr lang="en-US" sz="2200" b="true">
                <a:solidFill>
                  <a:srgbClr val="D6D9D7"/>
                </a:solidFill>
                <a:latin typeface="Inter Bold"/>
                <a:ea typeface="Inter Bold"/>
                <a:cs typeface="Inter Bold"/>
                <a:sym typeface="Inter Bold"/>
              </a:rPr>
              <a:t>Научный руководитель:</a:t>
            </a:r>
            <a:r>
              <a:rPr lang="en-US" sz="2200">
                <a:solidFill>
                  <a:srgbClr val="D6D9D7"/>
                </a:solidFill>
                <a:latin typeface="Inter"/>
                <a:ea typeface="Inter"/>
                <a:cs typeface="Inter"/>
                <a:sym typeface="Inter"/>
              </a:rPr>
              <a:t> Андриков Денис Анатольевич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DAHL9u3OIU8</dc:identifier>
  <dcterms:modified xsi:type="dcterms:W3CDTF">2011-08-01T06:04:30Z</dcterms:modified>
  <cp:revision>1</cp:revision>
  <dc:title>Razrabotka-prototipa-cifrovoj-obrazovatelnoj-platformy-na-osnove-generativnogo-II.pptx</dc:title>
</cp:coreProperties>
</file>